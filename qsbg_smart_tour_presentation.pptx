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สคริปต์พูดหน้าปก (1.0 นาที):</a:t>
            </a:r>
          </a:p>
          <a:p>
            <a:r>
              <a:t>กราบเรียนท่านประธาน ท่านคณะกรรมการ และผู้ทรงคุณวุฒิทุกท่านครับ</a:t>
            </a:r>
          </a:p>
          <a:p>
            <a:r>
              <a:t>ในวันนี้ผมมีความยินดีอย่างยิ่งที่จะนำเสนอ 'Smart Electric Tour Bus Management System Design: โครงการออกแบบและพัฒนาระบบจัดการรถนำเที่ยวไฟฟ้า สวนพฤกษศาสตร์สมเด็จพระนางเจ้าสิริกิติ์ จังหวัดเชียงใหม่'</a:t>
            </a:r>
          </a:p>
          <a:p>
            <a:r>
              <a:t>ภาพที่ท่านเห็นทางขวามือคือรถนำเที่ยวไฟฟ้าจริงทั้ง 3 คันที่จะนำมาให้บริการในพื้นที่ 6,500 ไร่ โครงการนี้คือการผสานการท่องเที่ยวสีเขียว Green EV 100% ควบคู่กับ Smart Tourism Platform ยกระดับสวนพฤกษศาสตร์สู่ระดับสากลครับ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2 : บริบทและปัญหาเดิม (1.5 นาที):</a:t>
            </a:r>
          </a:p>
          <a:p>
            <a:r>
              <a:t>สวนพฤกษศาสตร์สมเด็จพระนางเจ้าสิริกิติ์ มีพื้นที่กว้างถึง 6,500 ไร่ แต่เดิมเรามีข้อจำกัด 3 ข้อ: 1. รถสันดาปเดิม 2 คัน มีเสียงดังและปล่อยควันไอเสีย 2. นักท่องเที่ยวไม่ทราบเวลาที่รถจะมาถึงสถานี (No ETA) ทำให้รอคอยอย่างไร้จุดหมาย และ 3. ขาดข้อมูลสถิติดิจิทัลเชิงพื้นที่ ทำให้ผู้บริหารวางแผนได้ยาก นี่จึงเป็นที่มาของโครงการนี้ครับ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3 : วิสัยทัศน์และวัตถุประสงค์ (1.5 นาที):</a:t>
            </a:r>
          </a:p>
          <a:p>
            <a:r>
              <a:t>วิสัยทัศน์คือเปลี่ยนผ่านสู่รถนำเที่ยวไฟฟ้า EV 100% พร้อมสร้าง Smart Tourism Ecosystem อย่างครบวงจร โดยมี 2 วัตถุประสงค์หลัก คือ 1. ออกแบบระบบสารสนเทศ และ 2. พัฒนาแอปพลิเคชันจัดการรถนำเที่ยวครบวงจร ภาพทางขวามือคือตัวรถ EV จริงที่เปิดโล่งสัมผัสธรรมชาติ ไร้ควัน ไร้เสียง พร้อมติดตั้งแท็บเล็ตดิจิทัลครับ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4 : สถาปัตยกรรมระบบ 4 ชั้น (1.5 นาที):</a:t>
            </a:r>
          </a:p>
          <a:p>
            <a:r>
              <a:t>เราออกแบบระบบเป็น 4 ชั้น: Layer 1 Frontend รองรับ Web, Mobile, Kiosk และแท็บเล็ตคนขับ Layer 2 Backend แยก Microservices ชัดเจน Layer 3 Realtime &amp; IoT สตรีมพิกัด GPS จากรถ 3 คัน ทุก 5 วินาที และ Layer 4 Data แยก PostgreSQL และ TimescaleDB สำหรับ Big Data พิกัด GPS 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5 : e-Ticket Flow 5 ขั้นตอน (1.5 นาที):</a:t>
            </a:r>
          </a:p>
          <a:p>
            <a:r>
              <a:t>กระบวนการซื้อตั๋ว 5 ขั้นตอน: 1. เลือกซื้อตั๋วผ่านแอป/เว็บ/Kiosk 2. ชำระเงินผ่าน PromptPay QR EMVCo 3. ระบบสร้าง One-Time QR Code 4. ผู้โดยสารเปิดตั๋วบนมือถือ และ 5. สแกน Check-in บนรถ คนขับใช้แท็บเล็ตตรวจ 1 วินาที ตัดสิทธิ์ทันที ป้องกันการนำกลับมาใช้ซ้ำ 100% 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6 : Payment Gateway Integration Flow (1.5 นาที):</a:t>
            </a:r>
          </a:p>
          <a:p>
            <a:r>
              <a:t>สถาปัตยกรรมชำระเงินเชื่อมต่อ Gateway ชั้นนำ (Omise/2C2P) รองรับ PromptPay QR จุดสำคัญคือระบบ Webhook Callback ตรวจสอบ Digital Signature ป้องกัน Fake Order และมีกฎ 10-Minute Auto-Expiry หากไม่ชำระใน 10 นาที ระบบจะตัดคำสั่งซื้อและคืนที่นั่งให้ผู้อื่นทันทีครับ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7 : ระบบติดตามรถและสถานีวนลูป (1.5 นาที):</a:t>
            </a:r>
          </a:p>
          <a:p>
            <a:r>
              <a:t>เราจัดเดินรถวนลูป 6 สถานีหลัก รถ EV ทั้ง 3 คันมีแท็บเล็ตติดตั้งในห้องโดยสาร (ดังภาพจริงขวามือ) ส่งพิกัด GPS ทุก 5 วินาที มีระบบ Geofencing รับรู้การเข้าออกสถานี และ Dynamic ETA คำนวณเวลาถึงสถานีแบบสดๆ นักท่องเที่ยวจึงวางแผนเวลาได้ ไม่ต้องยืนรออย่างไร้จุดหมายครับ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8 : การบริหารคิวอัจฉริยะและการแจ้งเตือน (1.0 นาที):</a:t>
            </a:r>
          </a:p>
          <a:p>
            <a:r>
              <a:t>ระบบมี Smart Queue Balancing คำนวณที่นั่งว่างเทียบกับคิวรอ หากสถานีไหนคนแน่นจะแจ้งเตือนให้จัดรถเสริมทันที และมี Proactive Push Notification แจ้งเตือนเตือนล่วงหน้าเมื่อรถใกล้ถึงสถานีในระยะ 3 นาที นักท่องเที่ยวจึงเดินชมพรรณไม้ ถ่ายรูป หรือจิบกาแฟได้อย่างสบายใจครับ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9 : ระบบแนะนำแหล่งท่องเที่ยวตามพิกัด (1.0 นาที):</a:t>
            </a:r>
          </a:p>
          <a:p>
            <a:r>
              <a:t>เราใช้ Geofencing สร้างรั้วพิกัดเสมือนรอบแลนด์มาร์ก เช่น Canopy Walkway หรือกลุ่มเรือนกระจก เมื่อรถหรือนักท่องเที่ยวเข้าสู่พื้นที่ ข้อมูลแนะนำพันธุ์ไม้เด่น ประวัติความเป็นมา และ Audio Guide จะเด้งขึ้นบนมือถืออัตโนมัติ เสมือนมีมัคคุเทศก์ส่วนตัวตลอดเส้นทางครับ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10 : เทคโนโลยีที่เลือกใช้ (1.5 นาที):</a:t>
            </a:r>
          </a:p>
          <a:p>
            <a:r>
              <a:t>Tech Stack ระดับ Enterprise: Frontend ใช้ Next.js และ React Native Backend ใช้ Node.js + Fastify และ Socket.io สตรีม GPS Database ใช้ PostgreSQL, Redis และ TimescaleDB และวางระบบบน Docker / Kubernetes บน Cloud การันตี Uptime 99.9% พร้อมรับนักท่องเที่ยวช่วงเทศกาลครับ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11 : แผนการดำเนินงาน 9 เดือน (1.0 นาที):</a:t>
            </a:r>
          </a:p>
          <a:p>
            <a:r>
              <a:t>แผนงาน 9 เดือนแบ่ง 3 ระยะ: Phase 1 (ด.1-3) วางรากฐาน ฐานข้อมูล ตู้ Kiosk และ Driver App Phase 2 (ด.4-6) พัฒนาระบบเรียลไทม์ Mobile App และทดสอบบนพื้นที่จริง 6 สถานี และ Phase 3 (ด.7-9) Notification, Analytics Dashboard อบรมบุคลากร และส่งมอบงานสมบูรณ์ครับ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12 : ประโยชน์และคุณค่าที่ได้รับ (1.5 นาที):</a:t>
            </a:r>
          </a:p>
          <a:p>
            <a:r>
              <a:t>ความคุ้มค่าเกิดขึ้นใน 4 มิติ: นักท่องเที่ยวสะดวกสบาย เจ้าหน้าที่ทำงานง่ายขึ้น ผู้บริหารมี Real-time Dashboard ข้อมูลสถิติเชิงลึก และด้านสิ่งแวดล้อม (ดังภาพจุดชาร์จ EV Charger จริง) การเปลี่ยนมาใช้รถ EV 100% ช่วยลดมลพิษ ปกป้องระบบนิเวศในพื้นที่ 6,500 ไร่อย่างยั่งยืนครับ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13 : บทสรุปและการถาม-ตอบ (1.0 นาที):</a:t>
            </a:r>
          </a:p>
          <a:p>
            <a:r>
              <a:t>โครงการพัฒนาระบบจัดการรถนำเที่ยวไฟฟ้า สวนพฤกษศาสตร์สมเด็จพระนางเจ้าสิริกิติ์ คือการผสานเทคโนโลยีเข้ากับธรรมชาติอย่างลงตัว ทีมงานพร้อมเดินหน้าตามแผนงาน Phase 1 ทันทีครับ ขอขอบพระคุณคณะกรรมการทุกท่าน และยินดีรับฟังข้อเสนอแนะรวมถึงตอบข้อซักถามครับ ขอบคุณครับ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jp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ark_topographic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731520"/>
            <a:ext cx="6217920" cy="5394960"/>
          </a:xfrm>
          <a:prstGeom prst="roundRect">
            <a:avLst/>
          </a:prstGeom>
          <a:solidFill>
            <a:srgbClr val="0E261C"/>
          </a:solidFill>
          <a:ln w="1905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spcAft>
                <a:spcPts val="1600"/>
              </a:spcAft>
              <a:defRPr sz="1200" b="1">
                <a:solidFill>
                  <a:srgbClr val="6EE7B7"/>
                </a:solidFill>
                <a:latin typeface="Prompt"/>
              </a:defRPr>
            </a:pPr>
            <a:r>
              <a:t>SMART &amp; GREEN BOTANICAL GARDEN | QSBG INNOVATION</a:t>
            </a:r>
          </a:p>
          <a:p>
            <a:pPr>
              <a:spcAft>
                <a:spcPts val="1000"/>
              </a:spcAft>
              <a:defRPr sz="3200" b="1">
                <a:solidFill>
                  <a:srgbClr val="FFFFFF"/>
                </a:solidFill>
                <a:latin typeface="Prompt"/>
              </a:defRPr>
            </a:pPr>
            <a:r>
              <a:t>Smart Electric Tour Bus</a:t>
            </a:r>
            <a:br/>
            <a:r>
              <a:t>Management System Design</a:t>
            </a:r>
          </a:p>
          <a:p>
            <a:pPr>
              <a:spcAft>
                <a:spcPts val="1400"/>
              </a:spcAft>
              <a:defRPr sz="1600" b="1">
                <a:solidFill>
                  <a:srgbClr val="A7F3D0"/>
                </a:solidFill>
                <a:latin typeface="Prompt"/>
              </a:defRPr>
            </a:pPr>
            <a:r>
              <a:t>ยกระดับการท่องเที่ยวสีเขียวสู่อัจฉริยะ เพื่อสวนพฤกษศาสตร์ระดับโลก</a:t>
            </a:r>
          </a:p>
          <a:p>
            <a:pPr>
              <a:spcAft>
                <a:spcPts val="1800"/>
              </a:spcAft>
              <a:defRPr sz="1300">
                <a:solidFill>
                  <a:srgbClr val="E2E8F0"/>
                </a:solidFill>
                <a:latin typeface="Sarabun"/>
              </a:defRPr>
            </a:pPr>
            <a:r>
              <a:t>การผสานสองหัวใจสำคัญ: ยานยนต์ไฟฟ้า (EV 100%) พลังงานสะอาด ไร้ควัน ไร้เสียง ควบคู่กับ Smart Tourism Platform (e-Ticket, Live GPS Tracking, Smart Queue Balancing และ Real-time Analytics) สวนพฤกษศาสตร์สมเด็จพระนางเจ้าสิริกิติ์ จังหวัดเชียงใหม่</a:t>
            </a:r>
          </a:p>
          <a:p>
            <a:pPr>
              <a:defRPr sz="1200" b="1">
                <a:solidFill>
                  <a:srgbClr val="F59E0B"/>
                </a:solidFill>
                <a:latin typeface="Prompt"/>
              </a:defRPr>
            </a:pPr>
            <a:r>
              <a:t>แผนพัฒนา 3 ระยะ (9 เดือน)  |  Zero Emission 100%  |  พื้นที่ 6,500 ไร่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132320" y="731520"/>
            <a:ext cx="4327855" cy="5394960"/>
          </a:xfrm>
          <a:prstGeom prst="roundRect">
            <a:avLst/>
          </a:prstGeom>
          <a:solidFill>
            <a:srgbClr val="0E261C"/>
          </a:solidFill>
          <a:ln w="1905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v_fleet_3_cart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005840"/>
            <a:ext cx="3962095" cy="3840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4937760"/>
            <a:ext cx="396209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6EE7B7"/>
                </a:solidFill>
                <a:latin typeface="Prompt"/>
              </a:defRPr>
            </a:pPr>
            <a:r>
              <a:t>ยานพาหนะจริงประจำโครงการ:</a:t>
            </a:r>
          </a:p>
          <a:p>
            <a:pPr>
              <a:defRPr sz="1200">
                <a:solidFill>
                  <a:srgbClr val="E2E8F0"/>
                </a:solidFill>
                <a:latin typeface="Sarabun"/>
              </a:defRPr>
            </a:pPr>
            <a:r>
              <a:t>รถนำเที่ยวไฟฟ้า 3 คัน ให้บริการวนรอบ 6 สถานีหลัก ในพื้นที่สวนพฤกษศาสตร์ฯ 6,500 ไร่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ark_topographic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365760"/>
            <a:ext cx="3200400" cy="320040"/>
          </a:xfrm>
          <a:prstGeom prst="roundRect">
            <a:avLst/>
          </a:prstGeom>
          <a:solidFill>
            <a:srgbClr val="123024"/>
          </a:solidFill>
          <a:ln w="1270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100" b="1">
                <a:solidFill>
                  <a:srgbClr val="6EE7B7"/>
                </a:solidFill>
                <a:latin typeface="Prompt"/>
              </a:defRPr>
            </a:pPr>
            <a:r>
              <a:t>CONTEXT &amp; CHALLENGES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2600" b="1">
                <a:solidFill>
                  <a:srgbClr val="FFFFFF"/>
                </a:solidFill>
                <a:latin typeface="Prompt"/>
              </a:defRPr>
            </a:pPr>
            <a:r>
              <a:t>ที่มา ปัญหา และความจำเป็นของโครงการ</a:t>
            </a:r>
          </a:p>
          <a:p>
            <a:pPr>
              <a:defRPr sz="1400">
                <a:solidFill>
                  <a:srgbClr val="A7F3D0"/>
                </a:solidFill>
                <a:latin typeface="Sarabun"/>
              </a:defRPr>
            </a:pPr>
            <a:r>
              <a:t>ความท้าทายในการบริหารจัดการและการให้บริการนักท่องเที่ยวในปัจจุบัน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3429000" cy="4480560"/>
          </a:xfrm>
          <a:prstGeom prst="roundRect">
            <a:avLst/>
          </a:prstGeom>
          <a:solidFill>
            <a:srgbClr val="0E261C"/>
          </a:solidFill>
          <a:ln w="1905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/>
          <a:lstStyle/>
          <a:p>
            <a:pPr algn="ctr">
              <a:spcAft>
                <a:spcPts val="400"/>
              </a:spcAft>
              <a:defRPr sz="2800" b="1">
                <a:solidFill>
                  <a:srgbClr val="52B788"/>
                </a:solidFill>
                <a:latin typeface="Prompt"/>
              </a:defRPr>
            </a:pPr>
            <a:r>
              <a:t>01</a:t>
            </a:r>
          </a:p>
          <a:p>
            <a:pPr>
              <a:defRPr sz="1800" b="1">
                <a:solidFill>
                  <a:srgbClr val="FFFFFF"/>
                </a:solidFill>
                <a:latin typeface="Prompt"/>
              </a:defRPr>
            </a:pPr>
            <a:r>
              <a:t>พื้นที่กว้างใหญ่ &amp; รถจำกัด</a:t>
            </a:r>
          </a:p>
          <a:p>
            <a:pPr>
              <a:spcAft>
                <a:spcPts val="1200"/>
              </a:spcAft>
              <a:defRPr sz="1050">
                <a:solidFill>
                  <a:srgbClr val="6EE7B7"/>
                </a:solidFill>
                <a:latin typeface="Prompt"/>
              </a:defRPr>
            </a:pPr>
            <a:r>
              <a:t>PHYSICAL &amp; CAPACITY BOTTLENECK</a:t>
            </a:r>
          </a:p>
          <a:p>
            <a:pPr>
              <a:spcAft>
                <a:spcPts val="800"/>
              </a:spcAft>
              <a:defRPr sz="1300">
                <a:solidFill>
                  <a:srgbClr val="E2E8F0"/>
                </a:solidFill>
                <a:latin typeface="Sarabun"/>
              </a:defRPr>
            </a:pPr>
            <a:r>
              <a:t>• พื้นที่สวนกว้างขวางถึง 6,500 ไร่ มีความลาดชันสูง</a:t>
            </a:r>
          </a:p>
          <a:p>
            <a:pPr>
              <a:spcAft>
                <a:spcPts val="800"/>
              </a:spcAft>
              <a:defRPr sz="1300">
                <a:solidFill>
                  <a:srgbClr val="E2E8F0"/>
                </a:solidFill>
                <a:latin typeface="Sarabun"/>
              </a:defRPr>
            </a:pPr>
            <a:r>
              <a:t>• จุดท่องเที่ยวสำคัญกระจายตัว: Canopy Walkway, กลุ่มเรือนกระจก, พิพิธภัณฑ์ธรรมชาติวิทยา</a:t>
            </a:r>
          </a:p>
          <a:p>
            <a:pPr>
              <a:spcAft>
                <a:spcPts val="800"/>
              </a:spcAft>
              <a:defRPr sz="1300">
                <a:solidFill>
                  <a:srgbClr val="E2E8F0"/>
                </a:solidFill>
                <a:latin typeface="Sarabun"/>
              </a:defRPr>
            </a:pPr>
            <a:r>
              <a:t>• เดิมใช้รถเครื่องยนต์สันดาปเพียง 2 คัน ไม่เพียงพอต่อปริมาณนักท่องเที่ยวในฤดูกาลท่องเที่ยว</a:t>
            </a:r>
          </a:p>
          <a:p>
            <a:pPr>
              <a:spcAft>
                <a:spcPts val="800"/>
              </a:spcAft>
              <a:defRPr sz="1300">
                <a:solidFill>
                  <a:srgbClr val="E2E8F0"/>
                </a:solidFill>
                <a:latin typeface="Sarabun"/>
              </a:defRPr>
            </a:pPr>
            <a:r>
              <a:t>• มีเสียงดังและปล่อยควันไอเสียรบกวนบรรยากาศธรรมชาติ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91640"/>
            <a:ext cx="3429000" cy="4480560"/>
          </a:xfrm>
          <a:prstGeom prst="roundRect">
            <a:avLst/>
          </a:prstGeom>
          <a:solidFill>
            <a:srgbClr val="0E261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/>
          <a:lstStyle/>
          <a:p>
            <a:pPr algn="ctr">
              <a:spcAft>
                <a:spcPts val="400"/>
              </a:spcAft>
              <a:defRPr sz="2800" b="1">
                <a:solidFill>
                  <a:srgbClr val="38BDF8"/>
                </a:solidFill>
                <a:latin typeface="Prompt"/>
              </a:defRPr>
            </a:pPr>
            <a:r>
              <a:t>02</a:t>
            </a:r>
          </a:p>
          <a:p>
            <a:pPr>
              <a:defRPr sz="1800" b="1">
                <a:solidFill>
                  <a:srgbClr val="FFFFFF"/>
                </a:solidFill>
                <a:latin typeface="Prompt"/>
              </a:defRPr>
            </a:pPr>
            <a:r>
              <a:t>ไร้ระบบติดตามและคิวสะสม</a:t>
            </a:r>
          </a:p>
          <a:p>
            <a:pPr>
              <a:spcAft>
                <a:spcPts val="1200"/>
              </a:spcAft>
              <a:defRPr sz="1050">
                <a:solidFill>
                  <a:srgbClr val="6EE7B7"/>
                </a:solidFill>
                <a:latin typeface="Prompt"/>
              </a:defRPr>
            </a:pPr>
            <a:r>
              <a:t>LACK OF REAL-TIME VISIBILITY</a:t>
            </a:r>
          </a:p>
          <a:p>
            <a:pPr>
              <a:spcAft>
                <a:spcPts val="800"/>
              </a:spcAft>
              <a:defRPr sz="1300">
                <a:solidFill>
                  <a:srgbClr val="E2E8F0"/>
                </a:solidFill>
                <a:latin typeface="Sarabun"/>
              </a:defRPr>
            </a:pPr>
            <a:r>
              <a:t>• นักท่องเที่ยวไม่ทราบเวลาที่รถจะมาถึงสถานี (No ETA)</a:t>
            </a:r>
          </a:p>
          <a:p>
            <a:pPr>
              <a:spcAft>
                <a:spcPts val="800"/>
              </a:spcAft>
              <a:defRPr sz="1300">
                <a:solidFill>
                  <a:srgbClr val="E2E8F0"/>
                </a:solidFill>
                <a:latin typeface="Sarabun"/>
              </a:defRPr>
            </a:pPr>
            <a:r>
              <a:t>• เกิดการรอคอยอย่างไร้จุดหมาย และความแออัดสะสมหนาแน่นในบางสถานี</a:t>
            </a:r>
          </a:p>
          <a:p>
            <a:pPr>
              <a:spcAft>
                <a:spcPts val="800"/>
              </a:spcAft>
              <a:defRPr sz="1300">
                <a:solidFill>
                  <a:srgbClr val="E2E8F0"/>
                </a:solidFill>
                <a:latin typeface="Sarabun"/>
              </a:defRPr>
            </a:pPr>
            <a:r>
              <a:t>• คนขับและเจ้าหน้าที่ไม่ทราบจำนวนผู้โดยสารที่รอในสถานีถัดไป</a:t>
            </a:r>
          </a:p>
          <a:p>
            <a:pPr>
              <a:spcAft>
                <a:spcPts val="800"/>
              </a:spcAft>
              <a:defRPr sz="1300">
                <a:solidFill>
                  <a:srgbClr val="E2E8F0"/>
                </a:solidFill>
                <a:latin typeface="Sarabun"/>
              </a:defRPr>
            </a:pPr>
            <a:r>
              <a:t>• การจัดคิวขึ้นรถยังเป็นแบบดั้งเดิม ขาดความเป็นระเบียบและโปร่งใส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91640"/>
            <a:ext cx="3429000" cy="4480560"/>
          </a:xfrm>
          <a:prstGeom prst="roundRect">
            <a:avLst/>
          </a:prstGeom>
          <a:solidFill>
            <a:srgbClr val="0E261C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/>
          <a:lstStyle/>
          <a:p>
            <a:pPr algn="ctr">
              <a:spcAft>
                <a:spcPts val="400"/>
              </a:spcAft>
              <a:defRPr sz="2800" b="1">
                <a:solidFill>
                  <a:srgbClr val="F59E0B"/>
                </a:solidFill>
                <a:latin typeface="Prompt"/>
              </a:defRPr>
            </a:pPr>
            <a:r>
              <a:t>03</a:t>
            </a:r>
          </a:p>
          <a:p>
            <a:pPr>
              <a:defRPr sz="1800" b="1">
                <a:solidFill>
                  <a:srgbClr val="FFFFFF"/>
                </a:solidFill>
                <a:latin typeface="Prompt"/>
              </a:defRPr>
            </a:pPr>
            <a:r>
              <a:t>ขาดข้อมูลสถิติเพื่อวางแผน</a:t>
            </a:r>
          </a:p>
          <a:p>
            <a:pPr>
              <a:spcAft>
                <a:spcPts val="1200"/>
              </a:spcAft>
              <a:defRPr sz="1050">
                <a:solidFill>
                  <a:srgbClr val="6EE7B7"/>
                </a:solidFill>
                <a:latin typeface="Prompt"/>
              </a:defRPr>
            </a:pPr>
            <a:r>
              <a:t>NO DATA-DRIVEN ANALYTICS</a:t>
            </a:r>
          </a:p>
          <a:p>
            <a:pPr>
              <a:spcAft>
                <a:spcPts val="800"/>
              </a:spcAft>
              <a:defRPr sz="1300">
                <a:solidFill>
                  <a:srgbClr val="E2E8F0"/>
                </a:solidFill>
                <a:latin typeface="Sarabun"/>
              </a:defRPr>
            </a:pPr>
            <a:r>
              <a:t>• ขาดระบบจัดเก็บข้อมูลการใช้บริการแบบดิจิทัล</a:t>
            </a:r>
          </a:p>
          <a:p>
            <a:pPr>
              <a:spcAft>
                <a:spcPts val="800"/>
              </a:spcAft>
              <a:defRPr sz="1300">
                <a:solidFill>
                  <a:srgbClr val="E2E8F0"/>
                </a:solidFill>
                <a:latin typeface="Sarabun"/>
              </a:defRPr>
            </a:pPr>
            <a:r>
              <a:t>• ไม่มีข้อมูลเชิงพื้นที่ (Spatial Data) ว่าจุดใดมีความหนาแน่นสูงสุดในแต่ละช่วงเวลา</a:t>
            </a:r>
          </a:p>
          <a:p>
            <a:pPr>
              <a:spcAft>
                <a:spcPts val="800"/>
              </a:spcAft>
              <a:defRPr sz="1300">
                <a:solidFill>
                  <a:srgbClr val="E2E8F0"/>
                </a:solidFill>
                <a:latin typeface="Sarabun"/>
              </a:defRPr>
            </a:pPr>
            <a:r>
              <a:t>• ผู้บริหารไม่สามารถนำข้อมูลมาวิเคราะห์เพื่อจัดสรรทรัพยากรได้อย่างตรงจุด</a:t>
            </a:r>
          </a:p>
          <a:p>
            <a:pPr>
              <a:spcAft>
                <a:spcPts val="800"/>
              </a:spcAft>
              <a:defRPr sz="1300">
                <a:solidFill>
                  <a:srgbClr val="E2E8F0"/>
                </a:solidFill>
                <a:latin typeface="Sarabun"/>
              </a:defRPr>
            </a:pPr>
            <a:r>
              <a:t>• ระบบตั๋วและการตรวจสอบยังไม่เชื่อมโยงกับระบบหลังบ้าน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ark_topographic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365760"/>
            <a:ext cx="3200400" cy="320040"/>
          </a:xfrm>
          <a:prstGeom prst="roundRect">
            <a:avLst/>
          </a:prstGeom>
          <a:solidFill>
            <a:srgbClr val="123024"/>
          </a:solidFill>
          <a:ln w="1270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100" b="1">
                <a:solidFill>
                  <a:srgbClr val="6EE7B7"/>
                </a:solidFill>
                <a:latin typeface="Prompt"/>
              </a:defRPr>
            </a:pPr>
            <a:r>
              <a:t>STRATEGY &amp;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2600" b="1">
                <a:solidFill>
                  <a:srgbClr val="FFFFFF"/>
                </a:solidFill>
                <a:latin typeface="Prompt"/>
              </a:defRPr>
            </a:pPr>
            <a:r>
              <a:t>วิสัยทัศน์และวัตถุประสงค์โครงการ</a:t>
            </a:r>
          </a:p>
          <a:p>
            <a:pPr>
              <a:defRPr sz="1400">
                <a:solidFill>
                  <a:srgbClr val="A7F3D0"/>
                </a:solidFill>
                <a:latin typeface="Sarabun"/>
              </a:defRPr>
            </a:pPr>
            <a:r>
              <a:t>มุ่งสู่สวนพฤกษศาสตร์อัจฉริยะ เป็นมิตรกับสิ่งแวดล้อม และยั่งยืน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486400" cy="4480560"/>
          </a:xfrm>
          <a:prstGeom prst="roundRect">
            <a:avLst/>
          </a:prstGeom>
          <a:solidFill>
            <a:srgbClr val="0E261C"/>
          </a:solidFill>
          <a:ln w="1905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/>
          <a:lstStyle/>
          <a:p>
            <a:pPr algn="ctr">
              <a:spcAft>
                <a:spcPts val="1600"/>
              </a:spcAft>
              <a:defRPr sz="2000" b="1">
                <a:solidFill>
                  <a:srgbClr val="6EE7B7"/>
                </a:solidFill>
                <a:latin typeface="Prompt"/>
              </a:defRPr>
            </a:pPr>
            <a:r>
              <a:t>วัตถุประสงค์หลัก (Core Objectives)</a:t>
            </a:r>
          </a:p>
          <a:p>
            <a:pPr>
              <a:spcAft>
                <a:spcPts val="200"/>
              </a:spcAft>
              <a:defRPr sz="1600" b="1">
                <a:solidFill>
                  <a:srgbClr val="FFFFFF"/>
                </a:solidFill>
                <a:latin typeface="Prompt"/>
              </a:defRPr>
            </a:pPr>
            <a:r>
              <a:t>1. ศึกษาวิเคราะห์และออกแบบระบบสารสนเทศ</a:t>
            </a:r>
          </a:p>
          <a:p>
            <a:pPr>
              <a:spcAft>
                <a:spcPts val="1400"/>
              </a:spcAft>
              <a:defRPr sz="1300">
                <a:solidFill>
                  <a:srgbClr val="E2E8F0"/>
                </a:solidFill>
                <a:latin typeface="Sarabun"/>
              </a:defRPr>
            </a:pPr>
            <a:r>
              <a:t>วิเคราะห์ ออกแบบระบบฐานข้อมูล และสถาปัตยกรรมสารสนเทศรถนำเที่ยวไฟฟ้าเพื่อการบริหารจัดการที่มีประสิทธิภาพสูงสุด</a:t>
            </a:r>
          </a:p>
          <a:p>
            <a:pPr>
              <a:spcAft>
                <a:spcPts val="200"/>
              </a:spcAft>
              <a:defRPr sz="1600" b="1">
                <a:solidFill>
                  <a:srgbClr val="FFFFFF"/>
                </a:solidFill>
                <a:latin typeface="Prompt"/>
              </a:defRPr>
            </a:pPr>
            <a:r>
              <a:t>2. พัฒนาแอปพลิเคชันจัดการรถนำเที่ยวครบวงจร</a:t>
            </a:r>
          </a:p>
          <a:p>
            <a:pPr>
              <a:spcAft>
                <a:spcPts val="1400"/>
              </a:spcAft>
              <a:defRPr sz="1300">
                <a:solidFill>
                  <a:srgbClr val="E2E8F0"/>
                </a:solidFill>
                <a:latin typeface="Sarabun"/>
              </a:defRPr>
            </a:pPr>
            <a:r>
              <a:t>ครอบคลุมทั้งนักท่องเที่ยว (Web/Mobile App), คนขับรถ (Driver App), จุดบริการ (Kiosk) และผู้บริหาร (Dashboard)</a:t>
            </a:r>
          </a:p>
          <a:p>
            <a:pPr>
              <a:spcAft>
                <a:spcPts val="200"/>
              </a:spcAft>
              <a:defRPr sz="1600" b="1">
                <a:solidFill>
                  <a:srgbClr val="FFFFFF"/>
                </a:solidFill>
                <a:latin typeface="Prompt"/>
              </a:defRPr>
            </a:pPr>
            <a:r>
              <a:t>3. บูรณาการข้อมูลการท่องเที่ยวเชิงพื้นที่</a:t>
            </a:r>
          </a:p>
          <a:p>
            <a:pPr>
              <a:spcAft>
                <a:spcPts val="1400"/>
              </a:spcAft>
              <a:defRPr sz="1300">
                <a:solidFill>
                  <a:srgbClr val="E2E8F0"/>
                </a:solidFill>
                <a:latin typeface="Sarabun"/>
              </a:defRPr>
            </a:pPr>
            <a:r>
              <a:t>เชื่อมโยงเส้นทาง จุดท่องเที่ยว แนะนำพรรณไม้แบบ Geofences และจัดทำรายงานวิเคราะห์แบบเรียลไทม์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91640"/>
            <a:ext cx="5059375" cy="2057400"/>
          </a:xfrm>
          <a:prstGeom prst="roundRect">
            <a:avLst/>
          </a:prstGeom>
          <a:solidFill>
            <a:srgbClr val="0E261C"/>
          </a:solidFill>
          <a:ln w="1905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v_cart_sid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783080"/>
            <a:ext cx="2286000" cy="187451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961120" y="1783080"/>
            <a:ext cx="23774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Prompt"/>
              </a:defRPr>
            </a:pPr>
            <a:r>
              <a:t>รถนำเที่ยวไฟฟ้าจริง</a:t>
            </a:r>
          </a:p>
          <a:p>
            <a:pPr>
              <a:defRPr sz="1200">
                <a:solidFill>
                  <a:srgbClr val="E2E8F0"/>
                </a:solidFill>
                <a:latin typeface="Sarabun"/>
              </a:defRPr>
            </a:pPr>
            <a:r>
              <a:t>ขับเคลื่อนด้วยพลังงานสะอาด 100% ไร้เสียง ไร้ควัน เป็นมิตรต่อพรรณไม้ พร้อมเชื่อมต่อแท็บเล็ตดิจิทัล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3931920"/>
            <a:ext cx="5059375" cy="2240280"/>
          </a:xfrm>
          <a:prstGeom prst="roundRect">
            <a:avLst/>
          </a:prstGeom>
          <a:solidFill>
            <a:srgbClr val="0E261C"/>
          </a:solidFill>
          <a:ln w="1905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01168"/>
          <a:lstStyle/>
          <a:p>
            <a:pPr algn="ctr">
              <a:spcAft>
                <a:spcPts val="800"/>
              </a:spcAft>
              <a:defRPr sz="1700" b="1">
                <a:solidFill>
                  <a:srgbClr val="6EE7B7"/>
                </a:solidFill>
                <a:latin typeface="Prompt"/>
              </a:defRPr>
            </a:pPr>
            <a:r>
              <a:t>เป้าหมายเชิงยุทธศาสตร์และความยั่งยืน</a:t>
            </a:r>
          </a:p>
          <a:p>
            <a:pPr>
              <a:spcAft>
                <a:spcPts val="600"/>
              </a:spcAft>
              <a:defRPr sz="1250">
                <a:solidFill>
                  <a:srgbClr val="E2E8F0"/>
                </a:solidFill>
                <a:latin typeface="Sarabun"/>
              </a:defRPr>
            </a:pPr>
            <a:r>
              <a:t>1. Green EV Transition (Zero Emission): ปรับเปลี่ยนสู่รถพลังงานไฟฟ้า 100% รักษาระบบนิเวศพฤกษศาสตร์</a:t>
            </a:r>
          </a:p>
          <a:p>
            <a:pPr>
              <a:spcAft>
                <a:spcPts val="600"/>
              </a:spcAft>
              <a:defRPr sz="1250">
                <a:solidFill>
                  <a:srgbClr val="E2E8F0"/>
                </a:solidFill>
                <a:latin typeface="Sarabun"/>
              </a:defRPr>
            </a:pPr>
            <a:r>
              <a:t>2. Smart Digital Tourism Experience: นักท่องเที่ยวเข้าถึงข้อมูลสะดวกรวดเร็วผ่าน e-Ticket, Live Tracking</a:t>
            </a:r>
          </a:p>
          <a:p>
            <a:pPr>
              <a:spcAft>
                <a:spcPts val="600"/>
              </a:spcAft>
              <a:defRPr sz="1250">
                <a:solidFill>
                  <a:srgbClr val="E2E8F0"/>
                </a:solidFill>
                <a:latin typeface="Sarabun"/>
              </a:defRPr>
            </a:pPr>
            <a:r>
              <a:t>3. Data-Driven Spatial Management: ผู้บริหารมี Real-time Dashboard วางแผนพัฒนาเชิงพื้นที่ได้อย่างแม่นยำ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ark_topographic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365760"/>
            <a:ext cx="3200400" cy="320040"/>
          </a:xfrm>
          <a:prstGeom prst="roundRect">
            <a:avLst/>
          </a:prstGeom>
          <a:solidFill>
            <a:srgbClr val="123024"/>
          </a:solidFill>
          <a:ln w="1270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100" b="1">
                <a:solidFill>
                  <a:srgbClr val="6EE7B7"/>
                </a:solidFill>
                <a:latin typeface="Prompt"/>
              </a:defRPr>
            </a:pPr>
            <a: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2600" b="1">
                <a:solidFill>
                  <a:srgbClr val="FFFFFF"/>
                </a:solidFill>
                <a:latin typeface="Prompt"/>
              </a:defRPr>
            </a:pPr>
            <a:r>
              <a:t>สถาปัตยกรรมระบบโดยรวม (4-Tier Architecture)</a:t>
            </a:r>
          </a:p>
          <a:p>
            <a:pPr>
              <a:defRPr sz="1400">
                <a:solidFill>
                  <a:srgbClr val="A7F3D0"/>
                </a:solidFill>
                <a:latin typeface="Sarabun"/>
              </a:defRPr>
            </a:pPr>
            <a:r>
              <a:t>โครงสร้างระบบเชื่อมโยงระหว่างผู้ใช้ ระบบประมวลผล IoT และฐานข้อมูลอย่างมีเสถียรภาพ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10728655" cy="1051560"/>
          </a:xfrm>
          <a:prstGeom prst="roundRect">
            <a:avLst/>
          </a:prstGeom>
          <a:solidFill>
            <a:srgbClr val="0E261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09728"/>
          <a:lstStyle/>
          <a:p>
            <a:pPr algn="ctr">
              <a:spcAft>
                <a:spcPts val="300"/>
              </a:spcAft>
              <a:defRPr sz="1500" b="1">
                <a:solidFill>
                  <a:srgbClr val="38BDF8"/>
                </a:solidFill>
                <a:latin typeface="Prompt"/>
              </a:defRPr>
            </a:pPr>
            <a:r>
              <a:t>LAYER 1: Frontend Channels (Omnichannel)</a:t>
            </a:r>
          </a:p>
          <a:p>
            <a:pPr>
              <a:defRPr sz="1250">
                <a:solidFill>
                  <a:srgbClr val="E2E8F0"/>
                </a:solidFill>
                <a:latin typeface="Sarabun"/>
              </a:defRPr>
            </a:pPr>
            <a:r>
              <a:t>Web App (จองตั๋วออนไลน์ล่วงหน้า)   •   Mobile App (iOS / Android สำหรับนักท่องเที่ยว)   •   Kiosk Touchscreen (ตู้ซื้อตั๋วหน้าสถานี)   •   Driver App (แอปคนขับบน Tablet ประจำรถ)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834640"/>
            <a:ext cx="10728655" cy="1051560"/>
          </a:xfrm>
          <a:prstGeom prst="roundRect">
            <a:avLst/>
          </a:prstGeom>
          <a:solidFill>
            <a:srgbClr val="0E261C"/>
          </a:solidFill>
          <a:ln w="1905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09728"/>
          <a:lstStyle/>
          <a:p>
            <a:pPr algn="ctr">
              <a:spcAft>
                <a:spcPts val="300"/>
              </a:spcAft>
              <a:defRPr sz="1500" b="1">
                <a:solidFill>
                  <a:srgbClr val="52B788"/>
                </a:solidFill>
                <a:latin typeface="Prompt"/>
              </a:defRPr>
            </a:pPr>
            <a:r>
              <a:t>LAYER 2: API Gateway &amp; Backend Services (Core Logic)</a:t>
            </a:r>
          </a:p>
          <a:p>
            <a:pPr>
              <a:defRPr sz="1250">
                <a:solidFill>
                  <a:srgbClr val="E2E8F0"/>
                </a:solidFill>
                <a:latin typeface="Sarabun"/>
              </a:defRPr>
            </a:pPr>
            <a:r>
              <a:t>API Gateway: Authentication, Request Routing, Rate Limiting   •   Ticket Service (ระบบจำหน่ายตั๋วและ e-Ticket)   •   Bus Tracking Service (คำนวณตำแหน่งและ Dynamic ETA)   •   Station Service (จัดการ 6 สถานี)  |  Payment Service (เชื่อมต่อ Gateway)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77639"/>
            <a:ext cx="10728655" cy="1051560"/>
          </a:xfrm>
          <a:prstGeom prst="roundRect">
            <a:avLst/>
          </a:prstGeom>
          <a:solidFill>
            <a:srgbClr val="0E261C"/>
          </a:solidFill>
          <a:ln w="1905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09728"/>
          <a:lstStyle/>
          <a:p>
            <a:pPr algn="ctr">
              <a:spcAft>
                <a:spcPts val="300"/>
              </a:spcAft>
              <a:defRPr sz="1500" b="1">
                <a:solidFill>
                  <a:srgbClr val="6EE7B7"/>
                </a:solidFill>
                <a:latin typeface="Prompt"/>
              </a:defRPr>
            </a:pPr>
            <a:r>
              <a:t>LAYER 3: Realtime &amp; IoT Layer (Live Streaming)</a:t>
            </a:r>
          </a:p>
          <a:p>
            <a:pPr>
              <a:defRPr sz="1250">
                <a:solidFill>
                  <a:srgbClr val="E2E8F0"/>
                </a:solidFill>
                <a:latin typeface="Sarabun"/>
              </a:defRPr>
            </a:pPr>
            <a:r>
              <a:t>GPS Units บนรถ 3 คัน: สตรีมพิกัดตำแหน่ง Real-time ทุกๆ 5 วินาที ผ่าน 4G   •   QR / RFID Scanner: สแกนตรวจตั๋ว Check-in ขึ้นรถทันทีภายใน 1 วินาที   •   WebSocket Server: กระจายพิกัดและสถานะคิวแบบ Two-way Streaming สดๆ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28655" cy="1051560"/>
          </a:xfrm>
          <a:prstGeom prst="roundRect">
            <a:avLst/>
          </a:prstGeom>
          <a:solidFill>
            <a:srgbClr val="0E261C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09728"/>
          <a:lstStyle/>
          <a:p>
            <a:pPr algn="ctr">
              <a:spcAft>
                <a:spcPts val="300"/>
              </a:spcAft>
              <a:defRPr sz="1500" b="1">
                <a:solidFill>
                  <a:srgbClr val="F59E0B"/>
                </a:solidFill>
                <a:latin typeface="Prompt"/>
              </a:defRPr>
            </a:pPr>
            <a:r>
              <a:t>LAYER 4: Database &amp; Storage (High Reliability)</a:t>
            </a:r>
          </a:p>
          <a:p>
            <a:pPr>
              <a:defRPr sz="1250">
                <a:solidFill>
                  <a:srgbClr val="E2E8F0"/>
                </a:solidFill>
                <a:latin typeface="Sarabun"/>
              </a:defRPr>
            </a:pPr>
            <a:r>
              <a:t>PostgreSQL: ฐานข้อมูลหลัก จัดเก็บข้อมูลผู้ใช้, สิทธิ์ตั๋ว, รายได้ และธุรกรรม   •   Redis: In-memory Cache สำหรับแคชคิวรถและสถานะตั๋วความเร็วสูง   •   TimescaleDB: Time-series DB บันทึกพิกัด GPS นับล้านเรคคอร์ดโดยไม่หน่วง   •   Cloud File Storage: จัดเก็บภาพนิ่ง เอกสาร และไฟล์สำรองระบบ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ark_topographic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365760"/>
            <a:ext cx="3200400" cy="320040"/>
          </a:xfrm>
          <a:prstGeom prst="roundRect">
            <a:avLst/>
          </a:prstGeom>
          <a:solidFill>
            <a:srgbClr val="123024"/>
          </a:solidFill>
          <a:ln w="1270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100" b="1">
                <a:solidFill>
                  <a:srgbClr val="6EE7B7"/>
                </a:solidFill>
                <a:latin typeface="Prompt"/>
              </a:defRPr>
            </a:pPr>
            <a:r>
              <a:t>E-TICKET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2600" b="1">
                <a:solidFill>
                  <a:srgbClr val="FFFFFF"/>
                </a:solidFill>
                <a:latin typeface="Prompt"/>
              </a:defRPr>
            </a:pPr>
            <a:r>
              <a:t>e-Ticket Flow — กระบวนการตั้งแต่เลือกซื้อจนขึ้นรถ</a:t>
            </a:r>
          </a:p>
          <a:p>
            <a:pPr>
              <a:defRPr sz="1400">
                <a:solidFill>
                  <a:srgbClr val="A7F3D0"/>
                </a:solidFill>
                <a:latin typeface="Sarabun"/>
              </a:defRPr>
            </a:pPr>
            <a:r>
              <a:t>กระบวนการจำหน่ายตั๋ว ออกตั๋ว และการตรวจตั๋วขึ้นรถ 5 ขั้นตอนแบบไร้รอยต่อ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2057400" cy="3108960"/>
          </a:xfrm>
          <a:prstGeom prst="roundRect">
            <a:avLst/>
          </a:prstGeom>
          <a:solidFill>
            <a:srgbClr val="0E261C"/>
          </a:solidFill>
          <a:ln w="1905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82880"/>
          <a:lstStyle/>
          <a:p>
            <a:pPr algn="ctr">
              <a:spcAft>
                <a:spcPts val="600"/>
              </a:spcAft>
              <a:defRPr sz="1300" b="1">
                <a:solidFill>
                  <a:srgbClr val="6EE7B7"/>
                </a:solidFill>
                <a:latin typeface="Prompt"/>
              </a:defRPr>
            </a:pPr>
            <a:r>
              <a:t>STEP 01</a:t>
            </a:r>
          </a:p>
          <a:p>
            <a:pPr>
              <a:defRPr sz="1700" b="1">
                <a:solidFill>
                  <a:srgbClr val="FFFFFF"/>
                </a:solidFill>
                <a:latin typeface="Prompt"/>
              </a:defRPr>
            </a:pPr>
            <a:r>
              <a:t>เลือกซื้อตั๋ว</a:t>
            </a:r>
          </a:p>
          <a:p>
            <a:pPr>
              <a:spcAft>
                <a:spcPts val="1000"/>
              </a:spcAft>
              <a:defRPr sz="950">
                <a:solidFill>
                  <a:srgbClr val="A7F3D0"/>
                </a:solidFill>
                <a:latin typeface="Prompt"/>
              </a:defRPr>
            </a:pPr>
            <a:r>
              <a:t>OMNICHANNEL SELECTION</a:t>
            </a:r>
          </a:p>
          <a:p>
            <a:pPr>
              <a:defRPr sz="1200">
                <a:solidFill>
                  <a:srgbClr val="E2E8F0"/>
                </a:solidFill>
                <a:latin typeface="Sarabun"/>
              </a:defRPr>
            </a:pPr>
            <a:r>
              <a:t>ซื้อผ่าน Mobile App, เว็บไซต์ล่วงหน้า หรือตู้ Kiosk หน้าสถานี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80" y="1691640"/>
            <a:ext cx="2057400" cy="3108960"/>
          </a:xfrm>
          <a:prstGeom prst="roundRect">
            <a:avLst/>
          </a:prstGeom>
          <a:solidFill>
            <a:srgbClr val="0E261C"/>
          </a:solidFill>
          <a:ln w="1905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82880"/>
          <a:lstStyle/>
          <a:p>
            <a:pPr algn="ctr">
              <a:spcAft>
                <a:spcPts val="600"/>
              </a:spcAft>
              <a:defRPr sz="1300" b="1">
                <a:solidFill>
                  <a:srgbClr val="6EE7B7"/>
                </a:solidFill>
                <a:latin typeface="Prompt"/>
              </a:defRPr>
            </a:pPr>
            <a:r>
              <a:t>STEP 02</a:t>
            </a:r>
          </a:p>
          <a:p>
            <a:pPr>
              <a:defRPr sz="1700" b="1">
                <a:solidFill>
                  <a:srgbClr val="FFFFFF"/>
                </a:solidFill>
                <a:latin typeface="Prompt"/>
              </a:defRPr>
            </a:pPr>
            <a:r>
              <a:t>ชำระเงิน</a:t>
            </a:r>
          </a:p>
          <a:p>
            <a:pPr>
              <a:spcAft>
                <a:spcPts val="1000"/>
              </a:spcAft>
              <a:defRPr sz="950">
                <a:solidFill>
                  <a:srgbClr val="A7F3D0"/>
                </a:solidFill>
                <a:latin typeface="Prompt"/>
              </a:defRPr>
            </a:pPr>
            <a:r>
              <a:t>CONTACTLESS PAYMENT</a:t>
            </a:r>
          </a:p>
          <a:p>
            <a:pPr>
              <a:defRPr sz="1200">
                <a:solidFill>
                  <a:srgbClr val="E2E8F0"/>
                </a:solidFill>
                <a:latin typeface="Sarabun"/>
              </a:defRPr>
            </a:pPr>
            <a:r>
              <a:t>สแกน PromptPay QR EMVCo ทุกธนาคาร, บัตร หรือเงินสดที่ Kiosk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1691640"/>
            <a:ext cx="2057400" cy="3108960"/>
          </a:xfrm>
          <a:prstGeom prst="roundRect">
            <a:avLst/>
          </a:prstGeom>
          <a:solidFill>
            <a:srgbClr val="0E261C"/>
          </a:solidFill>
          <a:ln w="1905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82880"/>
          <a:lstStyle/>
          <a:p>
            <a:pPr algn="ctr">
              <a:spcAft>
                <a:spcPts val="600"/>
              </a:spcAft>
              <a:defRPr sz="1300" b="1">
                <a:solidFill>
                  <a:srgbClr val="6EE7B7"/>
                </a:solidFill>
                <a:latin typeface="Prompt"/>
              </a:defRPr>
            </a:pPr>
            <a:r>
              <a:t>STEP 03</a:t>
            </a:r>
          </a:p>
          <a:p>
            <a:pPr>
              <a:defRPr sz="1700" b="1">
                <a:solidFill>
                  <a:srgbClr val="FFFFFF"/>
                </a:solidFill>
                <a:latin typeface="Prompt"/>
              </a:defRPr>
            </a:pPr>
            <a:r>
              <a:t>สร้าง e-Ticket</a:t>
            </a:r>
          </a:p>
          <a:p>
            <a:pPr>
              <a:spcAft>
                <a:spcPts val="1000"/>
              </a:spcAft>
              <a:defRPr sz="950">
                <a:solidFill>
                  <a:srgbClr val="A7F3D0"/>
                </a:solidFill>
                <a:latin typeface="Prompt"/>
              </a:defRPr>
            </a:pPr>
            <a:r>
              <a:t>DYNAMIC QR GENERATOR</a:t>
            </a:r>
          </a:p>
          <a:p>
            <a:pPr>
              <a:defRPr sz="1200">
                <a:solidFill>
                  <a:srgbClr val="E2E8F0"/>
                </a:solidFill>
                <a:latin typeface="Sarabun"/>
              </a:defRPr>
            </a:pPr>
            <a:r>
              <a:t>สร้าง Dynamic One-Time QR พร้อมบันทึกลง Database ทันที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199" y="1691640"/>
            <a:ext cx="2057400" cy="3108960"/>
          </a:xfrm>
          <a:prstGeom prst="roundRect">
            <a:avLst/>
          </a:prstGeom>
          <a:solidFill>
            <a:srgbClr val="0E261C"/>
          </a:solidFill>
          <a:ln w="1905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82880"/>
          <a:lstStyle/>
          <a:p>
            <a:pPr algn="ctr">
              <a:spcAft>
                <a:spcPts val="600"/>
              </a:spcAft>
              <a:defRPr sz="1300" b="1">
                <a:solidFill>
                  <a:srgbClr val="6EE7B7"/>
                </a:solidFill>
                <a:latin typeface="Prompt"/>
              </a:defRPr>
            </a:pPr>
            <a:r>
              <a:t>STEP 04</a:t>
            </a:r>
          </a:p>
          <a:p>
            <a:pPr>
              <a:defRPr sz="1700" b="1">
                <a:solidFill>
                  <a:srgbClr val="FFFFFF"/>
                </a:solidFill>
                <a:latin typeface="Prompt"/>
              </a:defRPr>
            </a:pPr>
            <a:r>
              <a:t>แสดงตั๋ว</a:t>
            </a:r>
          </a:p>
          <a:p>
            <a:pPr>
              <a:spcAft>
                <a:spcPts val="1000"/>
              </a:spcAft>
              <a:defRPr sz="950">
                <a:solidFill>
                  <a:srgbClr val="A7F3D0"/>
                </a:solidFill>
                <a:latin typeface="Prompt"/>
              </a:defRPr>
            </a:pPr>
            <a:r>
              <a:t>PASSENGER DISPLAY</a:t>
            </a:r>
          </a:p>
          <a:p>
            <a:pPr>
              <a:defRPr sz="1200">
                <a:solidFill>
                  <a:srgbClr val="E2E8F0"/>
                </a:solidFill>
                <a:latin typeface="Sarabun"/>
              </a:defRPr>
            </a:pPr>
            <a:r>
              <a:t>แสดง QR บนมือถือ, Wallet หรือพิมพ์สลิปจากตู้ Kiosk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0" y="1691640"/>
            <a:ext cx="2057400" cy="3108960"/>
          </a:xfrm>
          <a:prstGeom prst="roundRect">
            <a:avLst/>
          </a:prstGeom>
          <a:solidFill>
            <a:srgbClr val="0E261C"/>
          </a:solidFill>
          <a:ln w="1905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82880"/>
          <a:lstStyle/>
          <a:p>
            <a:pPr algn="ctr">
              <a:spcAft>
                <a:spcPts val="600"/>
              </a:spcAft>
              <a:defRPr sz="1300" b="1">
                <a:solidFill>
                  <a:srgbClr val="6EE7B7"/>
                </a:solidFill>
                <a:latin typeface="Prompt"/>
              </a:defRPr>
            </a:pPr>
            <a:r>
              <a:t>STEP 05</a:t>
            </a:r>
          </a:p>
          <a:p>
            <a:pPr>
              <a:defRPr sz="1700" b="1">
                <a:solidFill>
                  <a:srgbClr val="FFFFFF"/>
                </a:solidFill>
                <a:latin typeface="Prompt"/>
              </a:defRPr>
            </a:pPr>
            <a:r>
              <a:t>สแกน Check-in</a:t>
            </a:r>
          </a:p>
          <a:p>
            <a:pPr>
              <a:spcAft>
                <a:spcPts val="1000"/>
              </a:spcAft>
              <a:defRPr sz="950">
                <a:solidFill>
                  <a:srgbClr val="A7F3D0"/>
                </a:solidFill>
                <a:latin typeface="Prompt"/>
              </a:defRPr>
            </a:pPr>
            <a:r>
              <a:t>DRIVER TABLET SCAN</a:t>
            </a:r>
          </a:p>
          <a:p>
            <a:pPr>
              <a:defRPr sz="1200">
                <a:solidFill>
                  <a:srgbClr val="E2E8F0"/>
                </a:solidFill>
                <a:latin typeface="Sarabun"/>
              </a:defRPr>
            </a:pPr>
            <a:r>
              <a:t>คนขับสแกนตรวจตั๋ว ตัดสิทธิ์ทันที ป้องกันใช้ซ้ำ อัปเดตคิว Real-time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029200"/>
            <a:ext cx="10728655" cy="1188720"/>
          </a:xfrm>
          <a:prstGeom prst="roundRect">
            <a:avLst/>
          </a:prstGeom>
          <a:solidFill>
            <a:srgbClr val="0E261C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64592"/>
          <a:lstStyle/>
          <a:p>
            <a:pPr algn="ctr">
              <a:spcAft>
                <a:spcPts val="300"/>
              </a:spcAft>
              <a:defRPr sz="1400" b="1">
                <a:solidFill>
                  <a:srgbClr val="F59E0B"/>
                </a:solidFill>
                <a:latin typeface="Prompt"/>
              </a:defRPr>
            </a:pPr>
            <a:r>
              <a:t>กฎการใช้งาน One-Time QR Code และการรักษาความปลอดภัย:</a:t>
            </a:r>
          </a:p>
          <a:p>
            <a:pPr>
              <a:defRPr sz="1250">
                <a:solidFill>
                  <a:srgbClr val="E2E8F0"/>
                </a:solidFill>
                <a:latin typeface="Sarabun"/>
              </a:defRPr>
            </a:pPr>
            <a:r>
              <a:t>• ตั๋ว 1 ใบ = สิทธิ์เดินทาง 1 ครั้ง เมื่อสแกนแล้วสถานะจะปรับเป็น 'USED' ในฐานข้อมูลทันที ป้องกันการถ่ายภาพส่งต่อหรือนำกลับมาใช้ซ้ำ 100%</a:t>
            </a:r>
            <a:br/>
            <a:r>
              <a:t>• อัปเดตข้อมูลผู้โดยสารขึ้นรถแบบสดๆ เข้าสู่ Smart Queue Balancing เพื่อตัดโควตาที่นั่งว่างของรถคันนั้นแบบ Real-time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ark_topographic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365760"/>
            <a:ext cx="3200400" cy="320040"/>
          </a:xfrm>
          <a:prstGeom prst="roundRect">
            <a:avLst/>
          </a:prstGeom>
          <a:solidFill>
            <a:srgbClr val="123024"/>
          </a:solidFill>
          <a:ln w="1270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100" b="1">
                <a:solidFill>
                  <a:srgbClr val="6EE7B7"/>
                </a:solidFill>
                <a:latin typeface="Prompt"/>
              </a:defRPr>
            </a:pPr>
            <a:r>
              <a:t>PAYMENT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2600" b="1">
                <a:solidFill>
                  <a:srgbClr val="FFFFFF"/>
                </a:solidFill>
                <a:latin typeface="Prompt"/>
              </a:defRPr>
            </a:pPr>
            <a:r>
              <a:t>Payment Gateway Integration Flow — สถาปัตยกรรมระบบชำระเงิน</a:t>
            </a:r>
          </a:p>
          <a:p>
            <a:pPr>
              <a:defRPr sz="1400">
                <a:solidFill>
                  <a:srgbClr val="A7F3D0"/>
                </a:solidFill>
                <a:latin typeface="Sarabun"/>
              </a:defRPr>
            </a:pPr>
            <a:r>
              <a:t>การเชื่อมต่อระบบการเงิน ตรวจสอบความถูกต้องผ่าน Webhook Callback และความปลอดภัย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2057400" cy="3108960"/>
          </a:xfrm>
          <a:prstGeom prst="roundRect">
            <a:avLst/>
          </a:prstGeom>
          <a:solidFill>
            <a:srgbClr val="0E261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82880"/>
          <a:lstStyle/>
          <a:p>
            <a:pPr algn="ctr">
              <a:spcAft>
                <a:spcPts val="600"/>
              </a:spcAft>
              <a:defRPr sz="1300" b="1">
                <a:solidFill>
                  <a:srgbClr val="38BDF8"/>
                </a:solidFill>
                <a:latin typeface="Prompt"/>
              </a:defRPr>
            </a:pPr>
            <a:r>
              <a:t>STEP 1</a:t>
            </a:r>
          </a:p>
          <a:p>
            <a:pPr>
              <a:defRPr sz="1700" b="1">
                <a:solidFill>
                  <a:srgbClr val="FFFFFF"/>
                </a:solidFill>
                <a:latin typeface="Prompt"/>
              </a:defRPr>
            </a:pPr>
            <a:r>
              <a:t>สั่งซื้อตั๋ว</a:t>
            </a:r>
          </a:p>
          <a:p>
            <a:pPr>
              <a:spcAft>
                <a:spcPts val="1000"/>
              </a:spcAft>
              <a:defRPr sz="950">
                <a:solidFill>
                  <a:srgbClr val="A7F3D0"/>
                </a:solidFill>
                <a:latin typeface="Prompt"/>
              </a:defRPr>
            </a:pPr>
            <a:r>
              <a:t>MOBILE / KIOSK</a:t>
            </a:r>
          </a:p>
          <a:p>
            <a:pPr>
              <a:defRPr sz="1200">
                <a:solidFill>
                  <a:srgbClr val="E2E8F0"/>
                </a:solidFill>
                <a:latin typeface="Sarabun"/>
              </a:defRPr>
            </a:pPr>
            <a:r>
              <a:t>ผู้ใช้เลือกตั๋ว -&gt; ส่งคำขอผ่าน API Gateway เข้าสู่ Payment Service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80" y="1691640"/>
            <a:ext cx="2057400" cy="3108960"/>
          </a:xfrm>
          <a:prstGeom prst="roundRect">
            <a:avLst/>
          </a:prstGeom>
          <a:solidFill>
            <a:srgbClr val="0E261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82880"/>
          <a:lstStyle/>
          <a:p>
            <a:pPr algn="ctr">
              <a:spcAft>
                <a:spcPts val="600"/>
              </a:spcAft>
              <a:defRPr sz="1300" b="1">
                <a:solidFill>
                  <a:srgbClr val="38BDF8"/>
                </a:solidFill>
                <a:latin typeface="Prompt"/>
              </a:defRPr>
            </a:pPr>
            <a:r>
              <a:t>STEP 2</a:t>
            </a:r>
          </a:p>
          <a:p>
            <a:pPr>
              <a:defRPr sz="1700" b="1">
                <a:solidFill>
                  <a:srgbClr val="FFFFFF"/>
                </a:solidFill>
                <a:latin typeface="Prompt"/>
              </a:defRPr>
            </a:pPr>
            <a:r>
              <a:t>สร้าง QR Code</a:t>
            </a:r>
          </a:p>
          <a:p>
            <a:pPr>
              <a:spcAft>
                <a:spcPts val="1000"/>
              </a:spcAft>
              <a:defRPr sz="950">
                <a:solidFill>
                  <a:srgbClr val="A7F3D0"/>
                </a:solidFill>
                <a:latin typeface="Prompt"/>
              </a:defRPr>
            </a:pPr>
            <a:r>
              <a:t>GATEWAY API</a:t>
            </a:r>
          </a:p>
          <a:p>
            <a:pPr>
              <a:defRPr sz="1200">
                <a:solidFill>
                  <a:srgbClr val="E2E8F0"/>
                </a:solidFill>
                <a:latin typeface="Sarabun"/>
              </a:defRPr>
            </a:pPr>
            <a:r>
              <a:t>เชื่อมต่อ Omise / 2C2P เพื่อสร้าง QR PromptPay ตามมาตรฐาน EMVCo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1691640"/>
            <a:ext cx="2057400" cy="3108960"/>
          </a:xfrm>
          <a:prstGeom prst="roundRect">
            <a:avLst/>
          </a:prstGeom>
          <a:solidFill>
            <a:srgbClr val="0E261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82880"/>
          <a:lstStyle/>
          <a:p>
            <a:pPr algn="ctr">
              <a:spcAft>
                <a:spcPts val="600"/>
              </a:spcAft>
              <a:defRPr sz="1300" b="1">
                <a:solidFill>
                  <a:srgbClr val="38BDF8"/>
                </a:solidFill>
                <a:latin typeface="Prompt"/>
              </a:defRPr>
            </a:pPr>
            <a:r>
              <a:t>STEP 3</a:t>
            </a:r>
          </a:p>
          <a:p>
            <a:pPr>
              <a:defRPr sz="1700" b="1">
                <a:solidFill>
                  <a:srgbClr val="FFFFFF"/>
                </a:solidFill>
                <a:latin typeface="Prompt"/>
              </a:defRPr>
            </a:pPr>
            <a:r>
              <a:t>ชำระเงิน</a:t>
            </a:r>
          </a:p>
          <a:p>
            <a:pPr>
              <a:spcAft>
                <a:spcPts val="1000"/>
              </a:spcAft>
              <a:defRPr sz="950">
                <a:solidFill>
                  <a:srgbClr val="A7F3D0"/>
                </a:solidFill>
                <a:latin typeface="Prompt"/>
              </a:defRPr>
            </a:pPr>
            <a:r>
              <a:t>MOBILE BANKING</a:t>
            </a:r>
          </a:p>
          <a:p>
            <a:pPr>
              <a:defRPr sz="1200">
                <a:solidFill>
                  <a:srgbClr val="E2E8F0"/>
                </a:solidFill>
                <a:latin typeface="Sarabun"/>
              </a:defRPr>
            </a:pPr>
            <a:r>
              <a:t>นักท่องเที่ยวสแกนจ่าย -&gt; ธนาคารตัดยอดและยืนยันสถานะการโอนเงินสำเร็จ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199" y="1691640"/>
            <a:ext cx="2057400" cy="3108960"/>
          </a:xfrm>
          <a:prstGeom prst="roundRect">
            <a:avLst/>
          </a:prstGeom>
          <a:solidFill>
            <a:srgbClr val="0E261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82880"/>
          <a:lstStyle/>
          <a:p>
            <a:pPr algn="ctr">
              <a:spcAft>
                <a:spcPts val="600"/>
              </a:spcAft>
              <a:defRPr sz="1300" b="1">
                <a:solidFill>
                  <a:srgbClr val="38BDF8"/>
                </a:solidFill>
                <a:latin typeface="Prompt"/>
              </a:defRPr>
            </a:pPr>
            <a:r>
              <a:t>STEP 4</a:t>
            </a:r>
          </a:p>
          <a:p>
            <a:pPr>
              <a:defRPr sz="1700" b="1">
                <a:solidFill>
                  <a:srgbClr val="FFFFFF"/>
                </a:solidFill>
                <a:latin typeface="Prompt"/>
              </a:defRPr>
            </a:pPr>
            <a:r>
              <a:t>Webhook</a:t>
            </a:r>
          </a:p>
          <a:p>
            <a:pPr>
              <a:spcAft>
                <a:spcPts val="1000"/>
              </a:spcAft>
              <a:defRPr sz="950">
                <a:solidFill>
                  <a:srgbClr val="A7F3D0"/>
                </a:solidFill>
                <a:latin typeface="Prompt"/>
              </a:defRPr>
            </a:pPr>
            <a:r>
              <a:t>SIGNATURE VERIFY</a:t>
            </a:r>
          </a:p>
          <a:p>
            <a:pPr>
              <a:defRPr sz="1200">
                <a:solidFill>
                  <a:srgbClr val="E2E8F0"/>
                </a:solidFill>
                <a:latin typeface="Sarabun"/>
              </a:defRPr>
            </a:pPr>
            <a:r>
              <a:t>Gateway ส่งผลกลับมา -&gt; ตรวจสอบ Digital Signature ป้องกัน Fake Order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0" y="1691640"/>
            <a:ext cx="2057400" cy="3108960"/>
          </a:xfrm>
          <a:prstGeom prst="roundRect">
            <a:avLst/>
          </a:prstGeom>
          <a:solidFill>
            <a:srgbClr val="0E261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82880"/>
          <a:lstStyle/>
          <a:p>
            <a:pPr algn="ctr">
              <a:spcAft>
                <a:spcPts val="600"/>
              </a:spcAft>
              <a:defRPr sz="1300" b="1">
                <a:solidFill>
                  <a:srgbClr val="38BDF8"/>
                </a:solidFill>
                <a:latin typeface="Prompt"/>
              </a:defRPr>
            </a:pPr>
            <a:r>
              <a:t>STEP 5</a:t>
            </a:r>
          </a:p>
          <a:p>
            <a:pPr>
              <a:defRPr sz="1700" b="1">
                <a:solidFill>
                  <a:srgbClr val="FFFFFF"/>
                </a:solidFill>
                <a:latin typeface="Prompt"/>
              </a:defRPr>
            </a:pPr>
            <a:r>
              <a:t>ออกตั๋วทันที</a:t>
            </a:r>
          </a:p>
          <a:p>
            <a:pPr>
              <a:spcAft>
                <a:spcPts val="1000"/>
              </a:spcAft>
              <a:defRPr sz="950">
                <a:solidFill>
                  <a:srgbClr val="A7F3D0"/>
                </a:solidFill>
                <a:latin typeface="Prompt"/>
              </a:defRPr>
            </a:pPr>
            <a:r>
              <a:t>DATABASE &amp; NOTIFY</a:t>
            </a:r>
          </a:p>
          <a:p>
            <a:pPr>
              <a:defRPr sz="1200">
                <a:solidFill>
                  <a:srgbClr val="E2E8F0"/>
                </a:solidFill>
                <a:latin typeface="Sarabun"/>
              </a:defRPr>
            </a:pPr>
            <a:r>
              <a:t>บันทึกสถานะ PAID ออก Dynamic One-Time QR และส่ง Push Notification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029200"/>
            <a:ext cx="10728655" cy="1188720"/>
          </a:xfrm>
          <a:prstGeom prst="roundRect">
            <a:avLst/>
          </a:prstGeom>
          <a:solidFill>
            <a:srgbClr val="0E261C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64592"/>
          <a:lstStyle/>
          <a:p>
            <a:pPr algn="ctr">
              <a:spcAft>
                <a:spcPts val="300"/>
              </a:spcAft>
              <a:defRPr sz="1400" b="1">
                <a:solidFill>
                  <a:srgbClr val="F59E0B"/>
                </a:solidFill>
                <a:latin typeface="Prompt"/>
              </a:defRPr>
            </a:pPr>
            <a:r>
              <a:t>นโยบายการยกเลิกอัตโนมัติ (10-Minute Auto-Expiry Rule):</a:t>
            </a:r>
          </a:p>
          <a:p>
            <a:pPr>
              <a:defRPr sz="1250">
                <a:solidFill>
                  <a:srgbClr val="E2E8F0"/>
                </a:solidFill>
                <a:latin typeface="Sarabun"/>
              </a:defRPr>
            </a:pPr>
            <a:r>
              <a:t>• หากไม่มีการชำระเงินภายใน 10 นาที นับตั้งแต่สร้างรายการ ระบบจะทำการ Auto-Expire ยกเลิกคำสั่งซื้อและ QR Code ทันที</a:t>
            </a:r>
            <a:br/>
            <a:r>
              <a:t>• ปลดล็อกและคืนโควตาที่นั่งกลับเข้าสู่ระบบส่วนกลาง เพื่อป้องกันการกักตั๋ว และเปิดโอกาสให้นักท่องเที่ยวท่านอื่นสามารถจองได้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ark_topographic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365760"/>
            <a:ext cx="3200400" cy="320040"/>
          </a:xfrm>
          <a:prstGeom prst="roundRect">
            <a:avLst/>
          </a:prstGeom>
          <a:solidFill>
            <a:srgbClr val="123024"/>
          </a:solidFill>
          <a:ln w="1270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100" b="1">
                <a:solidFill>
                  <a:srgbClr val="6EE7B7"/>
                </a:solidFill>
                <a:latin typeface="Prompt"/>
              </a:defRPr>
            </a:pPr>
            <a:r>
              <a:t>FLEET TRACKING &amp;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2600" b="1">
                <a:solidFill>
                  <a:srgbClr val="FFFFFF"/>
                </a:solidFill>
                <a:latin typeface="Prompt"/>
              </a:defRPr>
            </a:pPr>
            <a:r>
              <a:t>ระบบติดตามรถและสถานีวนลูป (Loop 6 สถานี)</a:t>
            </a:r>
          </a:p>
          <a:p>
            <a:pPr>
              <a:defRPr sz="1400">
                <a:solidFill>
                  <a:srgbClr val="A7F3D0"/>
                </a:solidFill>
                <a:latin typeface="Sarabun"/>
              </a:defRPr>
            </a:pPr>
            <a:r>
              <a:t>การติดตามพิกัด GPS อัตโนมัติ พร้อมการคำนวณเวลาถึงสถานีแบบ Dynamic ETA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3474720" cy="4480560"/>
          </a:xfrm>
          <a:prstGeom prst="roundRect">
            <a:avLst/>
          </a:prstGeom>
          <a:solidFill>
            <a:srgbClr val="0E261C"/>
          </a:solidFill>
          <a:ln w="1905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/>
          <a:lstStyle/>
          <a:p>
            <a:pPr algn="ctr">
              <a:spcAft>
                <a:spcPts val="1400"/>
              </a:spcAft>
              <a:defRPr sz="1800" b="1">
                <a:solidFill>
                  <a:srgbClr val="6EE7B7"/>
                </a:solidFill>
                <a:latin typeface="Prompt"/>
              </a:defRPr>
            </a:pPr>
            <a:r>
              <a:t>กลไกการทำงานของระบบติดตาม</a:t>
            </a:r>
          </a:p>
          <a:p>
            <a:pPr>
              <a:defRPr sz="1400" b="1">
                <a:solidFill>
                  <a:srgbClr val="FFFFFF"/>
                </a:solidFill>
                <a:latin typeface="Prompt"/>
              </a:defRPr>
            </a:pPr>
            <a:r>
              <a:t>• Tablet ประจำรถ 3 คัน:</a:t>
            </a:r>
          </a:p>
          <a:p>
            <a:pPr>
              <a:spcAft>
                <a:spcPts val="800"/>
              </a:spcAft>
              <a:defRPr sz="1200">
                <a:solidFill>
                  <a:srgbClr val="E2E8F0"/>
                </a:solidFill>
                <a:latin typeface="Sarabun"/>
              </a:defRPr>
            </a:pPr>
            <a:r>
              <a:t>  ส่งพิกัด GPS แม่นยำทุกๆ 5 วินาที ผ่านเครือข่าย 4G/Cellular เข้าสู่เซิร์ฟเวอร์</a:t>
            </a:r>
          </a:p>
          <a:p>
            <a:pPr>
              <a:defRPr sz="1400" b="1">
                <a:solidFill>
                  <a:srgbClr val="FFFFFF"/>
                </a:solidFill>
                <a:latin typeface="Prompt"/>
              </a:defRPr>
            </a:pPr>
            <a:r>
              <a:t>• Geofencing Engine:</a:t>
            </a:r>
          </a:p>
          <a:p>
            <a:pPr>
              <a:spcAft>
                <a:spcPts val="800"/>
              </a:spcAft>
              <a:defRPr sz="1200">
                <a:solidFill>
                  <a:srgbClr val="E2E8F0"/>
                </a:solidFill>
                <a:latin typeface="Sarabun"/>
              </a:defRPr>
            </a:pPr>
            <a:r>
              <a:t>  ตรวจจับการเข้า-ออกจากแต่ละสถานีอัตโนมัติด้วยรั้วพิกัดเสมือน</a:t>
            </a:r>
          </a:p>
          <a:p>
            <a:pPr>
              <a:defRPr sz="1400" b="1">
                <a:solidFill>
                  <a:srgbClr val="FFFFFF"/>
                </a:solidFill>
                <a:latin typeface="Prompt"/>
              </a:defRPr>
            </a:pPr>
            <a:r>
              <a:t>• Dynamic ETA Calculator:</a:t>
            </a:r>
          </a:p>
          <a:p>
            <a:pPr>
              <a:spcAft>
                <a:spcPts val="800"/>
              </a:spcAft>
              <a:defRPr sz="1200">
                <a:solidFill>
                  <a:srgbClr val="E2E8F0"/>
                </a:solidFill>
                <a:latin typeface="Sarabun"/>
              </a:defRPr>
            </a:pPr>
            <a:r>
              <a:t>  คำนวณความเร็วและระยะทาง ประเมินเวลารถจะมาถึงแต่ละสถานีแบบเรียลไทม์</a:t>
            </a:r>
          </a:p>
          <a:p>
            <a:pPr>
              <a:defRPr sz="1400" b="1">
                <a:solidFill>
                  <a:srgbClr val="FFFFFF"/>
                </a:solidFill>
                <a:latin typeface="Prompt"/>
              </a:defRPr>
            </a:pPr>
            <a:r>
              <a:t>• Driver App:</a:t>
            </a:r>
          </a:p>
          <a:p>
            <a:pPr>
              <a:spcAft>
                <a:spcPts val="800"/>
              </a:spcAft>
              <a:defRPr sz="1200">
                <a:solidFill>
                  <a:srgbClr val="E2E8F0"/>
                </a:solidFill>
                <a:latin typeface="Sarabun"/>
              </a:defRPr>
            </a:pPr>
            <a:r>
              <a:t>  คนขับดูจำนวนผู้โดยสารและคิวรอในสถานีถัดไปได้ทันทีผ่านหน้าจอแท็บเล็ต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91640"/>
            <a:ext cx="3474720" cy="4480560"/>
          </a:xfrm>
          <a:prstGeom prst="roundRect">
            <a:avLst/>
          </a:prstGeom>
          <a:solidFill>
            <a:srgbClr val="0E261C"/>
          </a:solidFill>
          <a:ln w="1905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/>
          <a:lstStyle/>
          <a:p>
            <a:pPr algn="ctr">
              <a:spcAft>
                <a:spcPts val="1400"/>
              </a:spcAft>
              <a:defRPr sz="1800" b="1">
                <a:solidFill>
                  <a:srgbClr val="6EE7B7"/>
                </a:solidFill>
                <a:latin typeface="Prompt"/>
              </a:defRPr>
            </a:pPr>
            <a:r>
              <a:t>การเดินรถวนลูป 6 สถานี</a:t>
            </a:r>
          </a:p>
          <a:p>
            <a:pPr>
              <a:defRPr sz="1300" b="1">
                <a:solidFill>
                  <a:srgbClr val="FFFFFF"/>
                </a:solidFill>
                <a:latin typeface="Prompt"/>
              </a:defRPr>
            </a:pPr>
            <a:r>
              <a:t>สถานี 1: จุดบริการต้อนรับ</a:t>
            </a:r>
          </a:p>
          <a:p>
            <a:pPr>
              <a:spcAft>
                <a:spcPts val="600"/>
              </a:spcAft>
              <a:defRPr sz="1200">
                <a:solidFill>
                  <a:srgbClr val="A7F3D0"/>
                </a:solidFill>
                <a:latin typeface="Sarabun"/>
              </a:defRPr>
            </a:pPr>
            <a:r>
              <a:t>  -&gt; กำหนดเวลาโดยประมาณ: ETA 3 นาที</a:t>
            </a:r>
          </a:p>
          <a:p>
            <a:pPr>
              <a:defRPr sz="1300" b="1">
                <a:solidFill>
                  <a:srgbClr val="FFFFFF"/>
                </a:solidFill>
                <a:latin typeface="Prompt"/>
              </a:defRPr>
            </a:pPr>
            <a:r>
              <a:t>สถานี 2: พิพิธภัณฑ์ธรรมชาติวิทยา</a:t>
            </a:r>
          </a:p>
          <a:p>
            <a:pPr>
              <a:spcAft>
                <a:spcPts val="600"/>
              </a:spcAft>
              <a:defRPr sz="1200">
                <a:solidFill>
                  <a:srgbClr val="A7F3D0"/>
                </a:solidFill>
                <a:latin typeface="Sarabun"/>
              </a:defRPr>
            </a:pPr>
            <a:r>
              <a:t>  -&gt; กำหนดเวลาโดยประมาณ: ETA 8 นาที</a:t>
            </a:r>
          </a:p>
          <a:p>
            <a:pPr>
              <a:defRPr sz="1300" b="1">
                <a:solidFill>
                  <a:srgbClr val="FFFFFF"/>
                </a:solidFill>
                <a:latin typeface="Prompt"/>
              </a:defRPr>
            </a:pPr>
            <a:r>
              <a:t>สถานี 3: ทางเดินเรือนยอดไม้ (Canopy)</a:t>
            </a:r>
          </a:p>
          <a:p>
            <a:pPr>
              <a:spcAft>
                <a:spcPts val="600"/>
              </a:spcAft>
              <a:defRPr sz="1200">
                <a:solidFill>
                  <a:srgbClr val="A7F3D0"/>
                </a:solidFill>
                <a:latin typeface="Sarabun"/>
              </a:defRPr>
            </a:pPr>
            <a:r>
              <a:t>  -&gt; กำหนดเวลาโดยประมาณ: ETA 14 นาที</a:t>
            </a:r>
          </a:p>
          <a:p>
            <a:pPr>
              <a:defRPr sz="1300" b="1">
                <a:solidFill>
                  <a:srgbClr val="FFFFFF"/>
                </a:solidFill>
                <a:latin typeface="Prompt"/>
              </a:defRPr>
            </a:pPr>
            <a:r>
              <a:t>สถานี 4: กลุ่มเรือนกระจกเฉลิมพระเกียรติ</a:t>
            </a:r>
          </a:p>
          <a:p>
            <a:pPr>
              <a:spcAft>
                <a:spcPts val="600"/>
              </a:spcAft>
              <a:defRPr sz="1200">
                <a:solidFill>
                  <a:srgbClr val="A7F3D0"/>
                </a:solidFill>
                <a:latin typeface="Sarabun"/>
              </a:defRPr>
            </a:pPr>
            <a:r>
              <a:t>  -&gt; กำหนดเวลาโดยประมาณ: ETA 19 นาที</a:t>
            </a:r>
          </a:p>
          <a:p>
            <a:pPr>
              <a:defRPr sz="1300" b="1">
                <a:solidFill>
                  <a:srgbClr val="FFFFFF"/>
                </a:solidFill>
                <a:latin typeface="Prompt"/>
              </a:defRPr>
            </a:pPr>
            <a:r>
              <a:t>สถานี 5: สวนกล้วยไม้และพืชเขตร้อน</a:t>
            </a:r>
          </a:p>
          <a:p>
            <a:pPr>
              <a:spcAft>
                <a:spcPts val="600"/>
              </a:spcAft>
              <a:defRPr sz="1200">
                <a:solidFill>
                  <a:srgbClr val="A7F3D0"/>
                </a:solidFill>
                <a:latin typeface="Sarabun"/>
              </a:defRPr>
            </a:pPr>
            <a:r>
              <a:t>  -&gt; กำหนดเวลาโดยประมาณ: ETA 24 นาที</a:t>
            </a:r>
          </a:p>
          <a:p>
            <a:pPr>
              <a:defRPr sz="1300" b="1">
                <a:solidFill>
                  <a:srgbClr val="FFFFFF"/>
                </a:solidFill>
                <a:latin typeface="Prompt"/>
              </a:defRPr>
            </a:pPr>
            <a:r>
              <a:t>สถานี 6: จุดชมวิวธรรมชาติ ดอยแม่ริม</a:t>
            </a:r>
          </a:p>
          <a:p>
            <a:pPr>
              <a:spcAft>
                <a:spcPts val="600"/>
              </a:spcAft>
              <a:defRPr sz="1200">
                <a:solidFill>
                  <a:srgbClr val="A7F3D0"/>
                </a:solidFill>
                <a:latin typeface="Sarabun"/>
              </a:defRPr>
            </a:pPr>
            <a:r>
              <a:t>  -&gt; กำหนดเวลาโดยประมาณ: ETA 30 นาที</a:t>
            </a:r>
          </a:p>
          <a:p>
            <a:pPr>
              <a:defRPr sz="1200" b="1">
                <a:solidFill>
                  <a:srgbClr val="F59E0B"/>
                </a:solidFill>
                <a:latin typeface="Prompt"/>
              </a:defRPr>
            </a:pPr>
            <a:r>
              <a:t>รถวิ่งวนลูปต่อเนื่อง ปรับความถี่อัตโนมัติตามปริมาณคิวรอ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91640"/>
            <a:ext cx="3413455" cy="4480560"/>
          </a:xfrm>
          <a:prstGeom prst="roundRect">
            <a:avLst/>
          </a:prstGeom>
          <a:solidFill>
            <a:srgbClr val="0E261C"/>
          </a:solidFill>
          <a:ln w="1905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v_cart_cockpit_table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874519"/>
            <a:ext cx="3047695" cy="33832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0" y="5394960"/>
            <a:ext cx="304769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6EE7B7"/>
                </a:solidFill>
                <a:latin typeface="Prompt"/>
              </a:defRPr>
            </a:pPr>
            <a:r>
              <a:t>ภาพจริง: แท็บเล็ตประจำรถ EV</a:t>
            </a:r>
          </a:p>
          <a:p>
            <a:pPr>
              <a:defRPr sz="1150">
                <a:solidFill>
                  <a:srgbClr val="E2E8F0"/>
                </a:solidFill>
                <a:latin typeface="Sarabun"/>
              </a:defRPr>
            </a:pPr>
            <a:r>
              <a:t>ติดตั้งในห้องโดยสารคนขับ ส่งพิกัด GPS ทุก 5 วิ และใช้สแกนตรวจตั๋ว Check-in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ark_topographic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365760"/>
            <a:ext cx="3200400" cy="320040"/>
          </a:xfrm>
          <a:prstGeom prst="roundRect">
            <a:avLst/>
          </a:prstGeom>
          <a:solidFill>
            <a:srgbClr val="123024"/>
          </a:solidFill>
          <a:ln w="1270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100" b="1">
                <a:solidFill>
                  <a:srgbClr val="6EE7B7"/>
                </a:solidFill>
                <a:latin typeface="Prompt"/>
              </a:defRPr>
            </a:pPr>
            <a:r>
              <a:t>QUEUE &amp; NOTIFICATIONS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2600" b="1">
                <a:solidFill>
                  <a:srgbClr val="FFFFFF"/>
                </a:solidFill>
                <a:latin typeface="Prompt"/>
              </a:defRPr>
            </a:pPr>
            <a:r>
              <a:t>การบริหารคิวอัจฉริยะและการแจ้งเตือน</a:t>
            </a:r>
          </a:p>
          <a:p>
            <a:pPr>
              <a:defRPr sz="1400">
                <a:solidFill>
                  <a:srgbClr val="A7F3D0"/>
                </a:solidFill>
                <a:latin typeface="Sarabun"/>
              </a:defRPr>
            </a:pPr>
            <a:r>
              <a:t>Smart Queue Balancing ลดความแออัด พร้อมระบบแจ้งเตือนแบบเรียลไทม์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3429000" cy="4480560"/>
          </a:xfrm>
          <a:prstGeom prst="roundRect">
            <a:avLst/>
          </a:prstGeom>
          <a:solidFill>
            <a:srgbClr val="0E261C"/>
          </a:solidFill>
          <a:ln w="1905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/>
          <a:lstStyle/>
          <a:p>
            <a:pPr algn="ctr">
              <a:defRPr sz="1900" b="1">
                <a:solidFill>
                  <a:srgbClr val="FFFFFF"/>
                </a:solidFill>
                <a:latin typeface="Prompt"/>
              </a:defRPr>
            </a:pPr>
            <a:r>
              <a:t>Smart Queue Balancing</a:t>
            </a:r>
          </a:p>
          <a:p>
            <a:pPr>
              <a:spcAft>
                <a:spcPts val="1400"/>
              </a:spcAft>
              <a:defRPr sz="1100">
                <a:solidFill>
                  <a:srgbClr val="52B788"/>
                </a:solidFill>
                <a:latin typeface="Prompt"/>
              </a:defRPr>
            </a:pPr>
            <a:r>
              <a:t>การกระจายผู้โดยสารอัจฉริยะ</a:t>
            </a:r>
          </a:p>
          <a:p>
            <a:pPr>
              <a:spcAft>
                <a:spcPts val="800"/>
              </a:spcAft>
              <a:defRPr sz="1300">
                <a:solidFill>
                  <a:srgbClr val="E2E8F0"/>
                </a:solidFill>
                <a:latin typeface="Sarabun"/>
              </a:defRPr>
            </a:pPr>
            <a:r>
              <a:t>• คำนวณความจุที่นั่งว่างจริง (Seat Capacity) บนรถเทียบกับคิวรอแต่ละสถานี</a:t>
            </a:r>
          </a:p>
          <a:p>
            <a:pPr>
              <a:spcAft>
                <a:spcPts val="800"/>
              </a:spcAft>
              <a:defRPr sz="1300">
                <a:solidFill>
                  <a:srgbClr val="E2E8F0"/>
                </a:solidFill>
                <a:latin typeface="Sarabun"/>
              </a:defRPr>
            </a:pPr>
            <a:r>
              <a:t>• หากสถานีใดมีผู้โดยสารสะสมหนาแน่น ระบบจะแจ้งเตือนให้จัดรถเสริมไปรับทันที</a:t>
            </a:r>
          </a:p>
          <a:p>
            <a:pPr>
              <a:spcAft>
                <a:spcPts val="800"/>
              </a:spcAft>
              <a:defRPr sz="1300">
                <a:solidFill>
                  <a:srgbClr val="E2E8F0"/>
                </a:solidFill>
                <a:latin typeface="Sarabun"/>
              </a:defRPr>
            </a:pPr>
            <a:r>
              <a:t>• ลดปัญหาคอขวดที่สถานียอดนิยม เช่น Canopy Walkway หรือกลุ่มเรือนกระจก</a:t>
            </a:r>
          </a:p>
          <a:p>
            <a:pPr>
              <a:spcAft>
                <a:spcPts val="800"/>
              </a:spcAft>
              <a:defRPr sz="1300">
                <a:solidFill>
                  <a:srgbClr val="E2E8F0"/>
                </a:solidFill>
                <a:latin typeface="Sarabun"/>
              </a:defRPr>
            </a:pPr>
            <a:r>
              <a:t>• กระจายโหลดการเดินรถให้เกิดประสิทธิภาพสูงสุด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91640"/>
            <a:ext cx="3429000" cy="4480560"/>
          </a:xfrm>
          <a:prstGeom prst="roundRect">
            <a:avLst/>
          </a:prstGeom>
          <a:solidFill>
            <a:srgbClr val="0E261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/>
          <a:lstStyle/>
          <a:p>
            <a:pPr algn="ctr">
              <a:defRPr sz="1900" b="1">
                <a:solidFill>
                  <a:srgbClr val="FFFFFF"/>
                </a:solidFill>
                <a:latin typeface="Prompt"/>
              </a:defRPr>
            </a:pPr>
            <a:r>
              <a:t>Omnichannel Display</a:t>
            </a:r>
          </a:p>
          <a:p>
            <a:pPr>
              <a:spcAft>
                <a:spcPts val="1400"/>
              </a:spcAft>
              <a:defRPr sz="1100">
                <a:solidFill>
                  <a:srgbClr val="38BDF8"/>
                </a:solidFill>
                <a:latin typeface="Prompt"/>
              </a:defRPr>
            </a:pPr>
            <a:r>
              <a:t>การแสดงผลสดรอบด้าน</a:t>
            </a:r>
          </a:p>
          <a:p>
            <a:pPr>
              <a:spcAft>
                <a:spcPts val="800"/>
              </a:spcAft>
              <a:defRPr sz="1300">
                <a:solidFill>
                  <a:srgbClr val="E2E8F0"/>
                </a:solidFill>
                <a:latin typeface="Sarabun"/>
              </a:defRPr>
            </a:pPr>
            <a:r>
              <a:t>• Live Map: เห็นตำแหน่งรถเคลื่อนที่สดๆ บนแผนที่ในแอปพลิเคชัน</a:t>
            </a:r>
          </a:p>
          <a:p>
            <a:pPr>
              <a:spcAft>
                <a:spcPts val="800"/>
              </a:spcAft>
              <a:defRPr sz="1300">
                <a:solidFill>
                  <a:srgbClr val="E2E8F0"/>
                </a:solidFill>
                <a:latin typeface="Sarabun"/>
              </a:defRPr>
            </a:pPr>
            <a:r>
              <a:t>• Station Display: หน้าจอมอนิเตอร์ประจำสถานีบอกเวลารถมาถึงและจำนวนคิวรอ</a:t>
            </a:r>
          </a:p>
          <a:p>
            <a:pPr>
              <a:spcAft>
                <a:spcPts val="800"/>
              </a:spcAft>
              <a:defRPr sz="1300">
                <a:solidFill>
                  <a:srgbClr val="E2E8F0"/>
                </a:solidFill>
                <a:latin typeface="Sarabun"/>
              </a:defRPr>
            </a:pPr>
            <a:r>
              <a:t>• Kiosk: ตรวจสอบคิวและสิทธิ์ตั๋วได้ตลอดเวลา</a:t>
            </a:r>
          </a:p>
          <a:p>
            <a:pPr>
              <a:spcAft>
                <a:spcPts val="800"/>
              </a:spcAft>
              <a:defRPr sz="1300">
                <a:solidFill>
                  <a:srgbClr val="E2E8F0"/>
                </a:solidFill>
                <a:latin typeface="Sarabun"/>
              </a:defRPr>
            </a:pPr>
            <a:r>
              <a:t>• ข้อมูลโปร่งใส เข้าถึงง่ายสำหรับนักท่องเที่ยวทุกคน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91640"/>
            <a:ext cx="3429000" cy="4480560"/>
          </a:xfrm>
          <a:prstGeom prst="roundRect">
            <a:avLst/>
          </a:prstGeom>
          <a:solidFill>
            <a:srgbClr val="0E261C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/>
          <a:lstStyle/>
          <a:p>
            <a:pPr algn="ctr">
              <a:defRPr sz="1900" b="1">
                <a:solidFill>
                  <a:srgbClr val="FFFFFF"/>
                </a:solidFill>
                <a:latin typeface="Prompt"/>
              </a:defRPr>
            </a:pPr>
            <a:r>
              <a:t>Proactive Push Notification</a:t>
            </a:r>
          </a:p>
          <a:p>
            <a:pPr>
              <a:spcAft>
                <a:spcPts val="1400"/>
              </a:spcAft>
              <a:defRPr sz="1100">
                <a:solidFill>
                  <a:srgbClr val="F59E0B"/>
                </a:solidFill>
                <a:latin typeface="Prompt"/>
              </a:defRPr>
            </a:pPr>
            <a:r>
              <a:t>การแจ้งเตือนล่วงหน้า</a:t>
            </a:r>
          </a:p>
          <a:p>
            <a:pPr>
              <a:spcAft>
                <a:spcPts val="800"/>
              </a:spcAft>
              <a:defRPr sz="1300">
                <a:solidFill>
                  <a:srgbClr val="E2E8F0"/>
                </a:solidFill>
                <a:latin typeface="Sarabun"/>
              </a:defRPr>
            </a:pPr>
            <a:r>
              <a:t>• ส่ง Push Notification ผ่าน Mobile App หรือ LINE เมื่อรถใกล้ถึงในระยะ 3 นาที หรือ 500 เมตร</a:t>
            </a:r>
          </a:p>
          <a:p>
            <a:pPr>
              <a:spcAft>
                <a:spcPts val="800"/>
              </a:spcAft>
              <a:defRPr sz="1300">
                <a:solidFill>
                  <a:srgbClr val="E2E8F0"/>
                </a:solidFill>
                <a:latin typeface="Sarabun"/>
              </a:defRPr>
            </a:pPr>
            <a:r>
              <a:t>• นักท่องเที่ยวไม่ต้องยืนตากแดดรอที่สถานี สามารถเดินถ่ายรูปหรือจิบกาแฟได้อย่างสบายใจ</a:t>
            </a:r>
          </a:p>
          <a:p>
            <a:pPr>
              <a:spcAft>
                <a:spcPts val="800"/>
              </a:spcAft>
              <a:defRPr sz="1300">
                <a:solidFill>
                  <a:srgbClr val="E2E8F0"/>
                </a:solidFill>
                <a:latin typeface="Sarabun"/>
              </a:defRPr>
            </a:pPr>
            <a:r>
              <a:t>• แจ้งเตือนเปลี่ยนสถานะคิวเมื่อถึงคิวขึ้นรถ</a:t>
            </a:r>
          </a:p>
          <a:p>
            <a:pPr>
              <a:spcAft>
                <a:spcPts val="800"/>
              </a:spcAft>
              <a:defRPr sz="1300">
                <a:solidFill>
                  <a:srgbClr val="E2E8F0"/>
                </a:solidFill>
                <a:latin typeface="Sarabun"/>
              </a:defRPr>
            </a:pPr>
            <a:r>
              <a:t>• ระบบแจ้งเตือนฉุกเฉินกรณีสภาพอากาศหรือการปรับรอบรถ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ark_topographic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365760"/>
            <a:ext cx="3200400" cy="320040"/>
          </a:xfrm>
          <a:prstGeom prst="roundRect">
            <a:avLst/>
          </a:prstGeom>
          <a:solidFill>
            <a:srgbClr val="123024"/>
          </a:solidFill>
          <a:ln w="1270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100" b="1">
                <a:solidFill>
                  <a:srgbClr val="6EE7B7"/>
                </a:solidFill>
                <a:latin typeface="Prompt"/>
              </a:defRPr>
            </a:pPr>
            <a:r>
              <a:t>SMART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2600" b="1">
                <a:solidFill>
                  <a:srgbClr val="FFFFFF"/>
                </a:solidFill>
                <a:latin typeface="Prompt"/>
              </a:defRPr>
            </a:pPr>
            <a:r>
              <a:t>ระบบแนะนำแหล่งท่องเที่ยวตามพิกัดภูมิศาสตร์</a:t>
            </a:r>
          </a:p>
          <a:p>
            <a:pPr>
              <a:defRPr sz="1400">
                <a:solidFill>
                  <a:srgbClr val="A7F3D0"/>
                </a:solidFill>
                <a:latin typeface="Sarabun"/>
              </a:defRPr>
            </a:pPr>
            <a:r>
              <a:t>ยกระดับการท่องเที่ยวเชิงเรียนรู้ด้วย Geofence Virtual Beacon Technology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257800" cy="4480560"/>
          </a:xfrm>
          <a:prstGeom prst="roundRect">
            <a:avLst/>
          </a:prstGeom>
          <a:solidFill>
            <a:srgbClr val="0E261C"/>
          </a:solidFill>
          <a:ln w="1905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/>
          <a:lstStyle/>
          <a:p>
            <a:pPr algn="ctr">
              <a:spcAft>
                <a:spcPts val="1600"/>
              </a:spcAft>
              <a:defRPr sz="2000" b="1">
                <a:solidFill>
                  <a:srgbClr val="6EE7B7"/>
                </a:solidFill>
                <a:latin typeface="Prompt"/>
              </a:defRPr>
            </a:pPr>
            <a:r>
              <a:t>เทคโนโลยี Geofences ในพื้นที่ 6,500 ไร่</a:t>
            </a:r>
          </a:p>
          <a:p>
            <a:pPr>
              <a:defRPr sz="1450" b="1">
                <a:solidFill>
                  <a:srgbClr val="FFFFFF"/>
                </a:solidFill>
                <a:latin typeface="Prompt"/>
              </a:defRPr>
            </a:pPr>
            <a:r>
              <a:t>• รั้วพิกัดเสมือน (Virtual Geofence Zones):</a:t>
            </a:r>
          </a:p>
          <a:p>
            <a:pPr>
              <a:spcAft>
                <a:spcPts val="1000"/>
              </a:spcAft>
              <a:defRPr sz="1300">
                <a:solidFill>
                  <a:srgbClr val="E2E8F0"/>
                </a:solidFill>
                <a:latin typeface="Sarabun"/>
              </a:defRPr>
            </a:pPr>
            <a:r>
              <a:t>  กำหนดพื้นที่จำลองรอบจุดแลนด์มาร์ก ตรวจจับเมื่อรถหรือนักท่องเที่ยวเข้าสู่พื้นที่โดยอัตโนมัติ</a:t>
            </a:r>
          </a:p>
          <a:p>
            <a:pPr>
              <a:defRPr sz="1450" b="1">
                <a:solidFill>
                  <a:srgbClr val="FFFFFF"/>
                </a:solidFill>
                <a:latin typeface="Prompt"/>
              </a:defRPr>
            </a:pPr>
            <a:r>
              <a:t>• Context-Aware Multimedia Guide:</a:t>
            </a:r>
          </a:p>
          <a:p>
            <a:pPr>
              <a:spcAft>
                <a:spcPts val="1000"/>
              </a:spcAft>
              <a:defRPr sz="1300">
                <a:solidFill>
                  <a:srgbClr val="E2E8F0"/>
                </a:solidFill>
                <a:latin typeface="Sarabun"/>
              </a:defRPr>
            </a:pPr>
            <a:r>
              <a:t>  เด้งข้อมูลความรู้ แนะนำพันธุ์ไม้เด่น ประวัติความเป็นมา และคลิปวิดีโอสั้นบนจอมือถือตามจุดที่ยืนอยู่</a:t>
            </a:r>
          </a:p>
          <a:p>
            <a:pPr>
              <a:defRPr sz="1450" b="1">
                <a:solidFill>
                  <a:srgbClr val="FFFFFF"/>
                </a:solidFill>
                <a:latin typeface="Prompt"/>
              </a:defRPr>
            </a:pPr>
            <a:r>
              <a:t>• Immersive Audio Guide:</a:t>
            </a:r>
          </a:p>
          <a:p>
            <a:pPr>
              <a:spcAft>
                <a:spcPts val="1000"/>
              </a:spcAft>
              <a:defRPr sz="1300">
                <a:solidFill>
                  <a:srgbClr val="E2E8F0"/>
                </a:solidFill>
                <a:latin typeface="Sarabun"/>
              </a:defRPr>
            </a:pPr>
            <a:r>
              <a:t>  เปิดเสียงบรรยายแนะนำให้นักท่องเที่ยวรับฟังอย่างกลมกลืนกับธรรมชาติรอบตัว เสมือนมีมัคคุเทศก์ส่วนตัว</a:t>
            </a:r>
          </a:p>
          <a:p>
            <a:pPr>
              <a:defRPr sz="1450" b="1">
                <a:solidFill>
                  <a:srgbClr val="FFFFFF"/>
                </a:solidFill>
                <a:latin typeface="Prompt"/>
              </a:defRPr>
            </a:pPr>
            <a:r>
              <a:t>• Smart Route Suggestions:</a:t>
            </a:r>
          </a:p>
          <a:p>
            <a:pPr>
              <a:spcAft>
                <a:spcPts val="1000"/>
              </a:spcAft>
              <a:defRPr sz="1300">
                <a:solidFill>
                  <a:srgbClr val="E2E8F0"/>
                </a:solidFill>
                <a:latin typeface="Sarabun"/>
              </a:defRPr>
            </a:pPr>
            <a:r>
              <a:t>  แนะนำเส้นทางตามเวลา เช่น ทริปสั้น 1 ชม. หรือทริปเจาะลึก 3 ชม. สำหรับผู้รักธรรมชาติ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691640"/>
            <a:ext cx="5257800" cy="4480560"/>
          </a:xfrm>
          <a:prstGeom prst="roundRect">
            <a:avLst/>
          </a:prstGeom>
          <a:solidFill>
            <a:srgbClr val="0E261C"/>
          </a:solidFill>
          <a:ln w="1905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/>
          <a:lstStyle/>
          <a:p>
            <a:pPr algn="ctr">
              <a:spcAft>
                <a:spcPts val="1600"/>
              </a:spcAft>
              <a:defRPr sz="2000" b="1">
                <a:solidFill>
                  <a:srgbClr val="6EE7B7"/>
                </a:solidFill>
                <a:latin typeface="Prompt"/>
              </a:defRPr>
            </a:pPr>
            <a:r>
              <a:t>ไฮไลต์แลนด์มาร์กสำคัญที่เชื่อมต่อในระบบ</a:t>
            </a:r>
          </a:p>
          <a:p>
            <a:pPr>
              <a:defRPr sz="1450" b="1">
                <a:solidFill>
                  <a:srgbClr val="FFFFFF"/>
                </a:solidFill>
                <a:latin typeface="Prompt"/>
              </a:defRPr>
            </a:pPr>
            <a:r>
              <a:t>1. Canopy Walkway (ทางเดินเรือนยอดไม้):</a:t>
            </a:r>
          </a:p>
          <a:p>
            <a:pPr>
              <a:spcAft>
                <a:spcPts val="1000"/>
              </a:spcAft>
              <a:defRPr sz="1300">
                <a:solidFill>
                  <a:srgbClr val="E2E8F0"/>
                </a:solidFill>
                <a:latin typeface="Sarabun"/>
              </a:defRPr>
            </a:pPr>
            <a:r>
              <a:t>ทางเดินลอยฟ้าเหนือเรือนยอดไม้ที่ยาวที่สุดในประเทศไทย แนะนำพันธุ์ไม้เรือนยอด พืชอิงอาศัย และทิวทัศน์ยอดดอย</a:t>
            </a:r>
          </a:p>
          <a:p>
            <a:pPr>
              <a:defRPr sz="1450" b="1">
                <a:solidFill>
                  <a:srgbClr val="FFFFFF"/>
                </a:solidFill>
                <a:latin typeface="Prompt"/>
              </a:defRPr>
            </a:pPr>
            <a:r>
              <a:t>2. กลุ่มเรือนกระจกเฉลิมพระเกียรติ (Glasshouses):</a:t>
            </a:r>
          </a:p>
          <a:p>
            <a:pPr>
              <a:spcAft>
                <a:spcPts val="1000"/>
              </a:spcAft>
              <a:defRPr sz="1300">
                <a:solidFill>
                  <a:srgbClr val="E2E8F0"/>
                </a:solidFill>
                <a:latin typeface="Sarabun"/>
              </a:defRPr>
            </a:pPr>
            <a:r>
              <a:t>รวบรวมพืชทนแล้ง พืชป่าดงดิบ พืชกินแมลง และบัวนานาพันธุ์ จัดแสดงพืชหายากระดับโลก</a:t>
            </a:r>
          </a:p>
          <a:p>
            <a:pPr>
              <a:defRPr sz="1450" b="1">
                <a:solidFill>
                  <a:srgbClr val="FFFFFF"/>
                </a:solidFill>
                <a:latin typeface="Prompt"/>
              </a:defRPr>
            </a:pPr>
            <a:r>
              <a:t>3. พิพิธภัณฑ์ธรรมชาติวิทยา (Natural History):</a:t>
            </a:r>
          </a:p>
          <a:p>
            <a:pPr>
              <a:spcAft>
                <a:spcPts val="1000"/>
              </a:spcAft>
              <a:defRPr sz="1300">
                <a:solidFill>
                  <a:srgbClr val="E2E8F0"/>
                </a:solidFill>
                <a:latin typeface="Sarabun"/>
              </a:defRPr>
            </a:pPr>
            <a:r>
              <a:t>นิทรรศการถาวรความหลากหลายทางชีวภาพ ธรณีวิทยา และการอนุรักษ์พันธุกรรมพืช</a:t>
            </a:r>
          </a:p>
          <a:p>
            <a:pPr>
              <a:defRPr sz="1450" b="1">
                <a:solidFill>
                  <a:srgbClr val="FFFFFF"/>
                </a:solidFill>
                <a:latin typeface="Prompt"/>
              </a:defRPr>
            </a:pPr>
            <a:r>
              <a:t>4. สวนกล้วยไม้และลานธรรมชาติ:</a:t>
            </a:r>
          </a:p>
          <a:p>
            <a:pPr>
              <a:spcAft>
                <a:spcPts val="1000"/>
              </a:spcAft>
              <a:defRPr sz="1300">
                <a:solidFill>
                  <a:srgbClr val="E2E8F0"/>
                </a:solidFill>
                <a:latin typeface="Sarabun"/>
              </a:defRPr>
            </a:pPr>
            <a:r>
              <a:t>ศูนย์อนุรักษ์กล้วยไม้ไทยและสายพันธุ์ผสม สัมผัสอากาศบริสุทธิ์ของดอยแม่ริม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ark_topographic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365760"/>
            <a:ext cx="3200400" cy="320040"/>
          </a:xfrm>
          <a:prstGeom prst="roundRect">
            <a:avLst/>
          </a:prstGeom>
          <a:solidFill>
            <a:srgbClr val="123024"/>
          </a:solidFill>
          <a:ln w="1270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100" b="1">
                <a:solidFill>
                  <a:srgbClr val="6EE7B7"/>
                </a:solidFill>
                <a:latin typeface="Prompt"/>
              </a:defRPr>
            </a:pPr>
            <a:r>
              <a:t>TECHNOLOGY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2600" b="1">
                <a:solidFill>
                  <a:srgbClr val="FFFFFF"/>
                </a:solidFill>
                <a:latin typeface="Prompt"/>
              </a:defRPr>
            </a:pPr>
            <a:r>
              <a:t>เทคโนโลยีและโครงสร้างพื้นฐาน (Technology Stack)</a:t>
            </a:r>
          </a:p>
          <a:p>
            <a:pPr>
              <a:defRPr sz="1400">
                <a:solidFill>
                  <a:srgbClr val="A7F3D0"/>
                </a:solidFill>
                <a:latin typeface="Sarabun"/>
              </a:defRPr>
            </a:pPr>
            <a:r>
              <a:t>คัดเลือกเทคโนโลยีระดับ Enterprise เพื่อความรวดเร็ว เสถียร และรองรับการขยายตัว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257800" cy="2148840"/>
          </a:xfrm>
          <a:prstGeom prst="roundRect">
            <a:avLst/>
          </a:prstGeom>
          <a:solidFill>
            <a:srgbClr val="0E261C"/>
          </a:solidFill>
          <a:ln w="1905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82880"/>
          <a:lstStyle/>
          <a:p>
            <a:pPr algn="ctr">
              <a:spcAft>
                <a:spcPts val="800"/>
              </a:spcAft>
              <a:defRPr sz="1700" b="1">
                <a:solidFill>
                  <a:srgbClr val="6EE7B7"/>
                </a:solidFill>
                <a:latin typeface="Prompt"/>
              </a:defRPr>
            </a:pPr>
            <a:r>
              <a:t>Frontend &amp; Mobile</a:t>
            </a:r>
          </a:p>
          <a:p>
            <a:pPr>
              <a:spcAft>
                <a:spcPts val="400"/>
              </a:spcAft>
              <a:defRPr sz="1200">
                <a:solidFill>
                  <a:srgbClr val="E2E8F0"/>
                </a:solidFill>
                <a:latin typeface="Sarabun"/>
              </a:defRPr>
            </a:pPr>
            <a:r>
              <a:t>• Next.js: เว็บแอปและ Admin Dashboard โหลดเร็ว รองรับ SEO และจัดการง่าย</a:t>
            </a:r>
          </a:p>
          <a:p>
            <a:pPr>
              <a:spcAft>
                <a:spcPts val="400"/>
              </a:spcAft>
              <a:defRPr sz="1200">
                <a:solidFill>
                  <a:srgbClr val="E2E8F0"/>
                </a:solidFill>
                <a:latin typeface="Sarabun"/>
              </a:defRPr>
            </a:pPr>
            <a:r>
              <a:t>• React Native: Mobile App (iOS / Android) และ Driver App ประสิทธิภาพสูง</a:t>
            </a:r>
          </a:p>
          <a:p>
            <a:pPr>
              <a:spcAft>
                <a:spcPts val="400"/>
              </a:spcAft>
              <a:defRPr sz="1200">
                <a:solidFill>
                  <a:srgbClr val="E2E8F0"/>
                </a:solidFill>
                <a:latin typeface="Sarabun"/>
              </a:defRPr>
            </a:pPr>
            <a:r>
              <a:t>• Tailwind CSS: UI โมเดิร์น Responsive รองรับทุกขนาดหน้าจออย่างสวยงาม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691640"/>
            <a:ext cx="5257800" cy="2148840"/>
          </a:xfrm>
          <a:prstGeom prst="roundRect">
            <a:avLst/>
          </a:prstGeom>
          <a:solidFill>
            <a:srgbClr val="0E261C"/>
          </a:solidFill>
          <a:ln w="1905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82880"/>
          <a:lstStyle/>
          <a:p>
            <a:pPr algn="ctr">
              <a:spcAft>
                <a:spcPts val="800"/>
              </a:spcAft>
              <a:defRPr sz="1700" b="1">
                <a:solidFill>
                  <a:srgbClr val="6EE7B7"/>
                </a:solidFill>
                <a:latin typeface="Prompt"/>
              </a:defRPr>
            </a:pPr>
            <a:r>
              <a:t>Backend &amp; Streaming</a:t>
            </a:r>
          </a:p>
          <a:p>
            <a:pPr>
              <a:spcAft>
                <a:spcPts val="400"/>
              </a:spcAft>
              <a:defRPr sz="1200">
                <a:solidFill>
                  <a:srgbClr val="E2E8F0"/>
                </a:solidFill>
                <a:latin typeface="Sarabun"/>
              </a:defRPr>
            </a:pPr>
            <a:r>
              <a:t>• Node.js + Fastify: API Server ประสิทธิภาพสูง Throughput ระดับสูง กินทรัพยากรต่ำ</a:t>
            </a:r>
          </a:p>
          <a:p>
            <a:pPr>
              <a:spcAft>
                <a:spcPts val="400"/>
              </a:spcAft>
              <a:defRPr sz="1200">
                <a:solidFill>
                  <a:srgbClr val="E2E8F0"/>
                </a:solidFill>
                <a:latin typeface="Sarabun"/>
              </a:defRPr>
            </a:pPr>
            <a:r>
              <a:t>• Socket.io Server: Real-time Two-way Streaming สำหรับพิกัด GPS และคิวรถ</a:t>
            </a:r>
          </a:p>
          <a:p>
            <a:pPr>
              <a:spcAft>
                <a:spcPts val="400"/>
              </a:spcAft>
              <a:defRPr sz="1200">
                <a:solidFill>
                  <a:srgbClr val="E2E8F0"/>
                </a:solidFill>
                <a:latin typeface="Sarabun"/>
              </a:defRPr>
            </a:pPr>
            <a:r>
              <a:t>• Bull Queue &amp; JWT: จัดการคิวงานเบื้องหลังและการยืนยันสิทธิ์ความปลอดภัยสูงสุด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023360"/>
            <a:ext cx="5257800" cy="2148840"/>
          </a:xfrm>
          <a:prstGeom prst="roundRect">
            <a:avLst/>
          </a:prstGeom>
          <a:solidFill>
            <a:srgbClr val="0E261C"/>
          </a:solidFill>
          <a:ln w="1905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82880"/>
          <a:lstStyle/>
          <a:p>
            <a:pPr algn="ctr">
              <a:spcAft>
                <a:spcPts val="800"/>
              </a:spcAft>
              <a:defRPr sz="1700" b="1">
                <a:solidFill>
                  <a:srgbClr val="6EE7B7"/>
                </a:solidFill>
                <a:latin typeface="Prompt"/>
              </a:defRPr>
            </a:pPr>
            <a:r>
              <a:t>Database &amp; Time-series</a:t>
            </a:r>
          </a:p>
          <a:p>
            <a:pPr>
              <a:spcAft>
                <a:spcPts val="400"/>
              </a:spcAft>
              <a:defRPr sz="1200">
                <a:solidFill>
                  <a:srgbClr val="E2E8F0"/>
                </a:solidFill>
                <a:latin typeface="Sarabun"/>
              </a:defRPr>
            </a:pPr>
            <a:r>
              <a:t>• PostgreSQL: ฐานข้อมูลหลัก จัดเก็บข้อมูลผู้ใช้, สิทธิ์ตั๋ว และธุรกรรมทางการเงิน</a:t>
            </a:r>
          </a:p>
          <a:p>
            <a:pPr>
              <a:spcAft>
                <a:spcPts val="400"/>
              </a:spcAft>
              <a:defRPr sz="1200">
                <a:solidFill>
                  <a:srgbClr val="E2E8F0"/>
                </a:solidFill>
                <a:latin typeface="Sarabun"/>
              </a:defRPr>
            </a:pPr>
            <a:r>
              <a:t>• TimescaleDB: Time-series Extension จัดเก็บ Big Data พิกัด GPS ได้นับล้านเรคคอร์ด</a:t>
            </a:r>
          </a:p>
          <a:p>
            <a:pPr>
              <a:spcAft>
                <a:spcPts val="400"/>
              </a:spcAft>
              <a:defRPr sz="1200">
                <a:solidFill>
                  <a:srgbClr val="E2E8F0"/>
                </a:solidFill>
                <a:latin typeface="Sarabun"/>
              </a:defRPr>
            </a:pPr>
            <a:r>
              <a:t>• Redis: In-memory Cache และจัดการ Session ความเร็วระดับมิลลิวินาที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4023360"/>
            <a:ext cx="5257800" cy="2148840"/>
          </a:xfrm>
          <a:prstGeom prst="roundRect">
            <a:avLst/>
          </a:prstGeom>
          <a:solidFill>
            <a:srgbClr val="0E261C"/>
          </a:solidFill>
          <a:ln w="1905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82880"/>
          <a:lstStyle/>
          <a:p>
            <a:pPr algn="ctr">
              <a:spcAft>
                <a:spcPts val="800"/>
              </a:spcAft>
              <a:defRPr sz="1700" b="1">
                <a:solidFill>
                  <a:srgbClr val="6EE7B7"/>
                </a:solidFill>
                <a:latin typeface="Prompt"/>
              </a:defRPr>
            </a:pPr>
            <a:r>
              <a:t>Infrastructure &amp; DevOps</a:t>
            </a:r>
          </a:p>
          <a:p>
            <a:pPr>
              <a:spcAft>
                <a:spcPts val="400"/>
              </a:spcAft>
              <a:defRPr sz="1200">
                <a:solidFill>
                  <a:srgbClr val="E2E8F0"/>
                </a:solidFill>
                <a:latin typeface="Sarabun"/>
              </a:defRPr>
            </a:pPr>
            <a:r>
              <a:t>• Docker &amp; Kubernetes: Containerize ปรับสเกลรองรับนักท่องเที่ยวช่วงเทศกาล</a:t>
            </a:r>
          </a:p>
          <a:p>
            <a:pPr>
              <a:spcAft>
                <a:spcPts val="400"/>
              </a:spcAft>
              <a:defRPr sz="1200">
                <a:solidFill>
                  <a:srgbClr val="E2E8F0"/>
                </a:solidFill>
                <a:latin typeface="Sarabun"/>
              </a:defRPr>
            </a:pPr>
            <a:r>
              <a:t>• AWS / GCP Cloud: การันตี Uptime สูง 99.9% ปลอดภัยตามมาตรฐานสากล</a:t>
            </a:r>
          </a:p>
          <a:p>
            <a:pPr>
              <a:spcAft>
                <a:spcPts val="400"/>
              </a:spcAft>
              <a:defRPr sz="1200">
                <a:solidFill>
                  <a:srgbClr val="E2E8F0"/>
                </a:solidFill>
                <a:latin typeface="Sarabun"/>
              </a:defRPr>
            </a:pPr>
            <a:r>
              <a:t>• GitHub Actions: CI/CD Pipeline ทดสอบและอัปเดตระบบอัตโนมัติอย่างราบรื่น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ark_topographic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365760"/>
            <a:ext cx="3200400" cy="320040"/>
          </a:xfrm>
          <a:prstGeom prst="roundRect">
            <a:avLst/>
          </a:prstGeom>
          <a:solidFill>
            <a:srgbClr val="123024"/>
          </a:solidFill>
          <a:ln w="1270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100" b="1">
                <a:solidFill>
                  <a:srgbClr val="6EE7B7"/>
                </a:solidFill>
                <a:latin typeface="Prompt"/>
              </a:defRPr>
            </a:pPr>
            <a: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2600" b="1">
                <a:solidFill>
                  <a:srgbClr val="FFFFFF"/>
                </a:solidFill>
                <a:latin typeface="Prompt"/>
              </a:defRPr>
            </a:pPr>
            <a:r>
              <a:t>แผนการดำเนินงานโครงการ (Roadmap 9 เดือน)</a:t>
            </a:r>
          </a:p>
          <a:p>
            <a:pPr>
              <a:defRPr sz="1400">
                <a:solidFill>
                  <a:srgbClr val="A7F3D0"/>
                </a:solidFill>
                <a:latin typeface="Sarabun"/>
              </a:defRPr>
            </a:pPr>
            <a:r>
              <a:t>แบ่งการพัฒนาเป็น 3 ระยะอย่างเป็นระบบ เพื่อส่งมอบผลงานที่สมบูรณ์ตรงเวลา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3429000" cy="4480560"/>
          </a:xfrm>
          <a:prstGeom prst="roundRect">
            <a:avLst/>
          </a:prstGeom>
          <a:solidFill>
            <a:srgbClr val="0E261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/>
          <a:lstStyle/>
          <a:p>
            <a:pPr algn="ctr">
              <a:defRPr sz="1700" b="1">
                <a:solidFill>
                  <a:srgbClr val="38BDF8"/>
                </a:solidFill>
                <a:latin typeface="Prompt"/>
              </a:defRPr>
            </a:pPr>
            <a:r>
              <a:t>PHASE 1 (เดือน 1-3)</a:t>
            </a:r>
          </a:p>
          <a:p>
            <a:pPr>
              <a:defRPr sz="1800" b="1">
                <a:solidFill>
                  <a:srgbClr val="FFFFFF"/>
                </a:solidFill>
                <a:latin typeface="Prompt"/>
              </a:defRPr>
            </a:pPr>
            <a:r>
              <a:t>Core Foundation</a:t>
            </a:r>
          </a:p>
          <a:p>
            <a:pPr>
              <a:spcAft>
                <a:spcPts val="1400"/>
              </a:spcAft>
              <a:defRPr sz="1100">
                <a:solidFill>
                  <a:srgbClr val="A7F3D0"/>
                </a:solidFill>
                <a:latin typeface="Prompt"/>
              </a:defRPr>
            </a:pPr>
            <a:r>
              <a:t>รากฐานระบบ &amp; การเงิน</a:t>
            </a:r>
          </a:p>
          <a:p>
            <a:pPr>
              <a:spcAft>
                <a:spcPts val="700"/>
              </a:spcAft>
              <a:defRPr sz="1250">
                <a:solidFill>
                  <a:srgbClr val="E2E8F0"/>
                </a:solidFill>
                <a:latin typeface="Sarabun"/>
              </a:defRPr>
            </a:pPr>
            <a:r>
              <a:t>• ออกแบบ DB Schema &amp; สถาปัตยกรรมระบบ</a:t>
            </a:r>
          </a:p>
          <a:p>
            <a:pPr>
              <a:spcAft>
                <a:spcPts val="700"/>
              </a:spcAft>
              <a:defRPr sz="1250">
                <a:solidFill>
                  <a:srgbClr val="E2E8F0"/>
                </a:solidFill>
                <a:latin typeface="Sarabun"/>
              </a:defRPr>
            </a:pPr>
            <a:r>
              <a:t>• พัฒนา Backend API (Ticket, Station, Auth)</a:t>
            </a:r>
          </a:p>
          <a:p>
            <a:pPr>
              <a:spcAft>
                <a:spcPts val="700"/>
              </a:spcAft>
              <a:defRPr sz="1250">
                <a:solidFill>
                  <a:srgbClr val="E2E8F0"/>
                </a:solidFill>
                <a:latin typeface="Sarabun"/>
              </a:defRPr>
            </a:pPr>
            <a:r>
              <a:t>• พัฒนา Admin Dashboard จัดการสถานีและรถ</a:t>
            </a:r>
          </a:p>
          <a:p>
            <a:pPr>
              <a:spcAft>
                <a:spcPts val="700"/>
              </a:spcAft>
              <a:defRPr sz="1250">
                <a:solidFill>
                  <a:srgbClr val="E2E8F0"/>
                </a:solidFill>
                <a:latin typeface="Sarabun"/>
              </a:defRPr>
            </a:pPr>
            <a:r>
              <a:t>• พัฒนา Kiosk UI สำหรับซื้อตั๋วหน้าสถานี</a:t>
            </a:r>
          </a:p>
          <a:p>
            <a:pPr>
              <a:spcAft>
                <a:spcPts val="700"/>
              </a:spcAft>
              <a:defRPr sz="1250">
                <a:solidFill>
                  <a:srgbClr val="E2E8F0"/>
                </a:solidFill>
                <a:latin typeface="Sarabun"/>
              </a:defRPr>
            </a:pPr>
            <a:r>
              <a:t>• เชื่อมต่อ Payment Gateway (PromptPay QR/บัตร)</a:t>
            </a:r>
          </a:p>
          <a:p>
            <a:pPr>
              <a:spcAft>
                <a:spcPts val="700"/>
              </a:spcAft>
              <a:defRPr sz="1250">
                <a:solidFill>
                  <a:srgbClr val="E2E8F0"/>
                </a:solidFill>
                <a:latin typeface="Sarabun"/>
              </a:defRPr>
            </a:pPr>
            <a:r>
              <a:t>• พัฒนา Driver App (Tablet GPS) เบื้องต้น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91640"/>
            <a:ext cx="3429000" cy="4480560"/>
          </a:xfrm>
          <a:prstGeom prst="roundRect">
            <a:avLst/>
          </a:prstGeom>
          <a:solidFill>
            <a:srgbClr val="0E261C"/>
          </a:solidFill>
          <a:ln w="1905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/>
          <a:lstStyle/>
          <a:p>
            <a:pPr algn="ctr">
              <a:defRPr sz="1700" b="1">
                <a:solidFill>
                  <a:srgbClr val="52B788"/>
                </a:solidFill>
                <a:latin typeface="Prompt"/>
              </a:defRPr>
            </a:pPr>
            <a:r>
              <a:t>PHASE 2 (เดือน 4-6)</a:t>
            </a:r>
          </a:p>
          <a:p>
            <a:pPr>
              <a:defRPr sz="1800" b="1">
                <a:solidFill>
                  <a:srgbClr val="FFFFFF"/>
                </a:solidFill>
                <a:latin typeface="Prompt"/>
              </a:defRPr>
            </a:pPr>
            <a:r>
              <a:t>Realtime &amp; Mobile</a:t>
            </a:r>
          </a:p>
          <a:p>
            <a:pPr>
              <a:spcAft>
                <a:spcPts val="1400"/>
              </a:spcAft>
              <a:defRPr sz="1100">
                <a:solidFill>
                  <a:srgbClr val="A7F3D0"/>
                </a:solidFill>
                <a:latin typeface="Prompt"/>
              </a:defRPr>
            </a:pPr>
            <a:r>
              <a:t>ระบบเรียลไทม์ &amp; แอปพลิเคชัน</a:t>
            </a:r>
          </a:p>
          <a:p>
            <a:pPr>
              <a:spcAft>
                <a:spcPts val="700"/>
              </a:spcAft>
              <a:defRPr sz="1250">
                <a:solidFill>
                  <a:srgbClr val="E2E8F0"/>
                </a:solidFill>
                <a:latin typeface="Sarabun"/>
              </a:defRPr>
            </a:pPr>
            <a:r>
              <a:t>• ติดตั้ง WebSocket Server สำหรับ Live Tracking</a:t>
            </a:r>
          </a:p>
          <a:p>
            <a:pPr>
              <a:spcAft>
                <a:spcPts val="700"/>
              </a:spcAft>
              <a:defRPr sz="1250">
                <a:solidFill>
                  <a:srgbClr val="E2E8F0"/>
                </a:solidFill>
                <a:latin typeface="Sarabun"/>
              </a:defRPr>
            </a:pPr>
            <a:r>
              <a:t>• พัฒนา Mobile App (iOS + Android) เต็มรูปแบบ</a:t>
            </a:r>
          </a:p>
          <a:p>
            <a:pPr>
              <a:spcAft>
                <a:spcPts val="700"/>
              </a:spcAft>
              <a:defRPr sz="1250">
                <a:solidFill>
                  <a:srgbClr val="E2E8F0"/>
                </a:solidFill>
                <a:latin typeface="Sarabun"/>
              </a:defRPr>
            </a:pPr>
            <a:r>
              <a:t>• พัฒนาระบบ Queue Management &amp; Balancing</a:t>
            </a:r>
          </a:p>
          <a:p>
            <a:pPr>
              <a:spcAft>
                <a:spcPts val="700"/>
              </a:spcAft>
              <a:defRPr sz="1250">
                <a:solidFill>
                  <a:srgbClr val="E2E8F0"/>
                </a:solidFill>
                <a:latin typeface="Sarabun"/>
              </a:defRPr>
            </a:pPr>
            <a:r>
              <a:t>• เชื่อมต่อ Geofence ทดสอบ Loop 6 สถานี</a:t>
            </a:r>
          </a:p>
          <a:p>
            <a:pPr>
              <a:spcAft>
                <a:spcPts val="700"/>
              </a:spcAft>
              <a:defRPr sz="1250">
                <a:solidFill>
                  <a:srgbClr val="E2E8F0"/>
                </a:solidFill>
                <a:latin typeface="Sarabun"/>
              </a:defRPr>
            </a:pPr>
            <a:r>
              <a:t>• ทดสอบสแกน QR Check-in บนรถนำเที่ยวจริง</a:t>
            </a:r>
          </a:p>
          <a:p>
            <a:pPr>
              <a:spcAft>
                <a:spcPts val="700"/>
              </a:spcAft>
              <a:defRPr sz="1250">
                <a:solidFill>
                  <a:srgbClr val="E2E8F0"/>
                </a:solidFill>
                <a:latin typeface="Sarabun"/>
              </a:defRPr>
            </a:pPr>
            <a:r>
              <a:t>• ทดสอบความเสถียรของสัญญาณในสวน 6,500 ไร่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91640"/>
            <a:ext cx="3429000" cy="4480560"/>
          </a:xfrm>
          <a:prstGeom prst="roundRect">
            <a:avLst/>
          </a:prstGeom>
          <a:solidFill>
            <a:srgbClr val="0E261C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/>
          <a:lstStyle/>
          <a:p>
            <a:pPr algn="ctr">
              <a:defRPr sz="1700" b="1">
                <a:solidFill>
                  <a:srgbClr val="F59E0B"/>
                </a:solidFill>
                <a:latin typeface="Prompt"/>
              </a:defRPr>
            </a:pPr>
            <a:r>
              <a:t>PHASE 3 (เดือน 7-9)</a:t>
            </a:r>
          </a:p>
          <a:p>
            <a:pPr>
              <a:defRPr sz="1800" b="1">
                <a:solidFill>
                  <a:srgbClr val="FFFFFF"/>
                </a:solidFill>
                <a:latin typeface="Prompt"/>
              </a:defRPr>
            </a:pPr>
            <a:r>
              <a:t>Advanced &amp; Rollout</a:t>
            </a:r>
          </a:p>
          <a:p>
            <a:pPr>
              <a:spcAft>
                <a:spcPts val="1400"/>
              </a:spcAft>
              <a:defRPr sz="1100">
                <a:solidFill>
                  <a:srgbClr val="A7F3D0"/>
                </a:solidFill>
                <a:latin typeface="Prompt"/>
              </a:defRPr>
            </a:pPr>
            <a:r>
              <a:t>ฟังก์ชันขั้นสูง &amp; ส่งมอบงาน</a:t>
            </a:r>
          </a:p>
          <a:p>
            <a:pPr>
              <a:spcAft>
                <a:spcPts val="700"/>
              </a:spcAft>
              <a:defRPr sz="1250">
                <a:solidFill>
                  <a:srgbClr val="E2E8F0"/>
                </a:solidFill>
                <a:latin typeface="Sarabun"/>
              </a:defRPr>
            </a:pPr>
            <a:r>
              <a:t>• เปิดระบบ Push Notification (LINE / Push / SMS)</a:t>
            </a:r>
          </a:p>
          <a:p>
            <a:pPr>
              <a:spcAft>
                <a:spcPts val="700"/>
              </a:spcAft>
              <a:defRPr sz="1250">
                <a:solidFill>
                  <a:srgbClr val="E2E8F0"/>
                </a:solidFill>
                <a:latin typeface="Sarabun"/>
              </a:defRPr>
            </a:pPr>
            <a:r>
              <a:t>• พัฒนาระบบ Real-time Analytics Dashboard</a:t>
            </a:r>
          </a:p>
          <a:p>
            <a:pPr>
              <a:spcAft>
                <a:spcPts val="700"/>
              </a:spcAft>
              <a:defRPr sz="1250">
                <a:solidFill>
                  <a:srgbClr val="E2E8F0"/>
                </a:solidFill>
                <a:latin typeface="Sarabun"/>
              </a:defRPr>
            </a:pPr>
            <a:r>
              <a:t>• เปิดระบบจองออนไลน์ล่วงหน้า (Online Booking)</a:t>
            </a:r>
          </a:p>
          <a:p>
            <a:pPr>
              <a:spcAft>
                <a:spcPts val="700"/>
              </a:spcAft>
              <a:defRPr sz="1250">
                <a:solidFill>
                  <a:srgbClr val="E2E8F0"/>
                </a:solidFill>
                <a:latin typeface="Sarabun"/>
              </a:defRPr>
            </a:pPr>
            <a:r>
              <a:t>• จัดทำคู่มือการใช้งานระบบทุกกลุ่มผู้ใช้</a:t>
            </a:r>
          </a:p>
          <a:p>
            <a:pPr>
              <a:spcAft>
                <a:spcPts val="700"/>
              </a:spcAft>
              <a:defRPr sz="1250">
                <a:solidFill>
                  <a:srgbClr val="E2E8F0"/>
                </a:solidFill>
                <a:latin typeface="Sarabun"/>
              </a:defRPr>
            </a:pPr>
            <a:r>
              <a:t>• ฝึกอบรมเจ้าหน้าที่ประจำสถานีและคนขับรถ</a:t>
            </a:r>
          </a:p>
          <a:p>
            <a:pPr>
              <a:spcAft>
                <a:spcPts val="700"/>
              </a:spcAft>
              <a:defRPr sz="1250">
                <a:solidFill>
                  <a:srgbClr val="E2E8F0"/>
                </a:solidFill>
                <a:latin typeface="Sarabun"/>
              </a:defRPr>
            </a:pPr>
            <a:r>
              <a:t>• ทดสอบระบบสมบูรณ์ และส่งมอบงานโครงการ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ark_topographic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365760"/>
            <a:ext cx="3200400" cy="320040"/>
          </a:xfrm>
          <a:prstGeom prst="roundRect">
            <a:avLst/>
          </a:prstGeom>
          <a:solidFill>
            <a:srgbClr val="123024"/>
          </a:solidFill>
          <a:ln w="1270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100" b="1">
                <a:solidFill>
                  <a:srgbClr val="6EE7B7"/>
                </a:solidFill>
                <a:latin typeface="Prompt"/>
              </a:defRPr>
            </a:pPr>
            <a:r>
              <a:t>IMPACT &amp;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2600" b="1">
                <a:solidFill>
                  <a:srgbClr val="FFFFFF"/>
                </a:solidFill>
                <a:latin typeface="Prompt"/>
              </a:defRPr>
            </a:pPr>
            <a:r>
              <a:t>คุณค่าและประโยชน์ที่คาดว่าจะได้รับ</a:t>
            </a:r>
          </a:p>
          <a:p>
            <a:pPr>
              <a:defRPr sz="1400">
                <a:solidFill>
                  <a:srgbClr val="A7F3D0"/>
                </a:solidFill>
                <a:latin typeface="Sarabun"/>
              </a:defRPr>
            </a:pPr>
            <a:r>
              <a:t>การสร้างผลกระทบเชิงบวกอย่างครอบคลุมต่อทุกภาคส่วนที่เกี่ยวข้อง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257800" cy="2148840"/>
          </a:xfrm>
          <a:prstGeom prst="roundRect">
            <a:avLst/>
          </a:prstGeom>
          <a:solidFill>
            <a:srgbClr val="0E261C"/>
          </a:solidFill>
          <a:ln w="1905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64592"/>
          <a:lstStyle/>
          <a:p>
            <a:pPr algn="ctr">
              <a:spcAft>
                <a:spcPts val="600"/>
              </a:spcAft>
              <a:defRPr sz="1700" b="1">
                <a:solidFill>
                  <a:srgbClr val="52B788"/>
                </a:solidFill>
                <a:latin typeface="Prompt"/>
              </a:defRPr>
            </a:pPr>
            <a:r>
              <a:t>นักท่องเที่ยว (Tourists)</a:t>
            </a:r>
          </a:p>
          <a:p>
            <a:pPr>
              <a:spcAft>
                <a:spcPts val="300"/>
              </a:spcAft>
              <a:defRPr sz="1200">
                <a:solidFill>
                  <a:srgbClr val="E2E8F0"/>
                </a:solidFill>
                <a:latin typeface="Sarabun"/>
              </a:defRPr>
            </a:pPr>
            <a:r>
              <a:t>• ซื้อตั๋วสะดวกทุกช่องทาง ไม่ต้องต่อแถวยาว</a:t>
            </a:r>
          </a:p>
          <a:p>
            <a:pPr>
              <a:spcAft>
                <a:spcPts val="300"/>
              </a:spcAft>
              <a:defRPr sz="1200">
                <a:solidFill>
                  <a:srgbClr val="E2E8F0"/>
                </a:solidFill>
                <a:latin typeface="Sarabun"/>
              </a:defRPr>
            </a:pPr>
            <a:r>
              <a:t>• ทราบเวลารถมาถึงล่วงหน้า ลดความเครียดในการรอคอย</a:t>
            </a:r>
          </a:p>
          <a:p>
            <a:pPr>
              <a:spcAft>
                <a:spcPts val="300"/>
              </a:spcAft>
              <a:defRPr sz="1200">
                <a:solidFill>
                  <a:srgbClr val="E2E8F0"/>
                </a:solidFill>
                <a:latin typeface="Sarabun"/>
              </a:defRPr>
            </a:pPr>
            <a:r>
              <a:t>• ได้รับความรู้พันธุ์ไม้ตลอดเส้นทางผ่านระบบ Geofences</a:t>
            </a:r>
          </a:p>
          <a:p>
            <a:pPr>
              <a:spcAft>
                <a:spcPts val="300"/>
              </a:spcAft>
              <a:defRPr sz="1200">
                <a:solidFill>
                  <a:srgbClr val="E2E8F0"/>
                </a:solidFill>
                <a:latin typeface="Sarabun"/>
              </a:defRPr>
            </a:pPr>
            <a:r>
              <a:t>• สัมผัสธรรมชาติที่เงียบสงบ ปราศจากควันพิษ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691640"/>
            <a:ext cx="5257800" cy="2148840"/>
          </a:xfrm>
          <a:prstGeom prst="roundRect">
            <a:avLst/>
          </a:prstGeom>
          <a:solidFill>
            <a:srgbClr val="0E261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64592"/>
          <a:lstStyle/>
          <a:p>
            <a:pPr algn="ctr">
              <a:spcAft>
                <a:spcPts val="600"/>
              </a:spcAft>
              <a:defRPr sz="1700" b="1">
                <a:solidFill>
                  <a:srgbClr val="38BDF8"/>
                </a:solidFill>
                <a:latin typeface="Prompt"/>
              </a:defRPr>
            </a:pPr>
            <a:r>
              <a:t>เจ้าหน้าที่ &amp; คนขับรถ (Staff &amp; Drivers)</a:t>
            </a:r>
          </a:p>
          <a:p>
            <a:pPr>
              <a:spcAft>
                <a:spcPts val="300"/>
              </a:spcAft>
              <a:defRPr sz="1200">
                <a:solidFill>
                  <a:srgbClr val="E2E8F0"/>
                </a:solidFill>
                <a:latin typeface="Sarabun"/>
              </a:defRPr>
            </a:pPr>
            <a:r>
              <a:t>• ตรวจสอบตั๋วด้วย Tablet ภายใน 1 วินาที ป้องกันตั๋วซ้ำ</a:t>
            </a:r>
          </a:p>
          <a:p>
            <a:pPr>
              <a:spcAft>
                <a:spcPts val="300"/>
              </a:spcAft>
              <a:defRPr sz="1200">
                <a:solidFill>
                  <a:srgbClr val="E2E8F0"/>
                </a:solidFill>
                <a:latin typeface="Sarabun"/>
              </a:defRPr>
            </a:pPr>
            <a:r>
              <a:t>• ทราบจำนวนผู้โดยสารในสถานีถัดไปล่วงหน้า จัดการรถได้ง่าย</a:t>
            </a:r>
          </a:p>
          <a:p>
            <a:pPr>
              <a:spcAft>
                <a:spcPts val="300"/>
              </a:spcAft>
              <a:defRPr sz="1200">
                <a:solidFill>
                  <a:srgbClr val="E2E8F0"/>
                </a:solidFill>
                <a:latin typeface="Sarabun"/>
              </a:defRPr>
            </a:pPr>
            <a:r>
              <a:t>• ลดความแออัดและลดความขัดแย้งในการจัดคิวหน้างาน</a:t>
            </a:r>
          </a:p>
          <a:p>
            <a:pPr>
              <a:spcAft>
                <a:spcPts val="300"/>
              </a:spcAft>
              <a:defRPr sz="1200">
                <a:solidFill>
                  <a:srgbClr val="E2E8F0"/>
                </a:solidFill>
                <a:latin typeface="Sarabun"/>
              </a:defRPr>
            </a:pPr>
            <a:r>
              <a:t>• มีเครื่องมือดิจิทัลที่ทันสมัยช่วยให้การทำงานคล่องตัว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023360"/>
            <a:ext cx="5257800" cy="2148840"/>
          </a:xfrm>
          <a:prstGeom prst="roundRect">
            <a:avLst/>
          </a:prstGeom>
          <a:solidFill>
            <a:srgbClr val="0E261C"/>
          </a:solidFill>
          <a:ln w="1905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64592"/>
          <a:lstStyle/>
          <a:p>
            <a:pPr algn="ctr">
              <a:spcAft>
                <a:spcPts val="600"/>
              </a:spcAft>
              <a:defRPr sz="1700" b="1">
                <a:solidFill>
                  <a:srgbClr val="6EE7B7"/>
                </a:solidFill>
                <a:latin typeface="Prompt"/>
              </a:defRPr>
            </a:pPr>
            <a:r>
              <a:t>ผู้บริหารและองค์กร (Management)</a:t>
            </a:r>
          </a:p>
          <a:p>
            <a:pPr>
              <a:spcAft>
                <a:spcPts val="300"/>
              </a:spcAft>
              <a:defRPr sz="1200">
                <a:solidFill>
                  <a:srgbClr val="E2E8F0"/>
                </a:solidFill>
                <a:latin typeface="Sarabun"/>
              </a:defRPr>
            </a:pPr>
            <a:r>
              <a:t>• Real-time Dashboard ติดตามสถานะการเดินรถและรายได้ทันที</a:t>
            </a:r>
          </a:p>
          <a:p>
            <a:pPr>
              <a:spcAft>
                <a:spcPts val="300"/>
              </a:spcAft>
              <a:defRPr sz="1200">
                <a:solidFill>
                  <a:srgbClr val="E2E8F0"/>
                </a:solidFill>
                <a:latin typeface="Sarabun"/>
              </a:defRPr>
            </a:pPr>
            <a:r>
              <a:t>• มีข้อมูลสถิติเชิงพื้นที่นำไปวางแผนพัฒนาสวนฯ ได้อย่างแม่นยำ</a:t>
            </a:r>
          </a:p>
          <a:p>
            <a:pPr>
              <a:spcAft>
                <a:spcPts val="300"/>
              </a:spcAft>
              <a:defRPr sz="1200">
                <a:solidFill>
                  <a:srgbClr val="E2E8F0"/>
                </a:solidFill>
                <a:latin typeface="Sarabun"/>
              </a:defRPr>
            </a:pPr>
            <a:r>
              <a:t>• ตรวจสอบยอดจำหน่ายตั๋วได้อย่างโปร่งใส 100%</a:t>
            </a:r>
          </a:p>
          <a:p>
            <a:pPr>
              <a:spcAft>
                <a:spcPts val="300"/>
              </a:spcAft>
              <a:defRPr sz="1200">
                <a:solidFill>
                  <a:srgbClr val="E2E8F0"/>
                </a:solidFill>
                <a:latin typeface="Sarabun"/>
              </a:defRPr>
            </a:pPr>
            <a:r>
              <a:t>• ยกระดับภาพลักษณ์สู่ Smart Botanical Garden สากล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4023360"/>
            <a:ext cx="5257800" cy="2148840"/>
          </a:xfrm>
          <a:prstGeom prst="roundRect">
            <a:avLst/>
          </a:prstGeom>
          <a:solidFill>
            <a:srgbClr val="0E261C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v_charger_stat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0" y="4114800"/>
            <a:ext cx="1508760" cy="1965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0" y="4114800"/>
            <a:ext cx="329184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550" b="1">
                <a:solidFill>
                  <a:srgbClr val="F59E0B"/>
                </a:solidFill>
                <a:latin typeface="Prompt"/>
              </a:defRPr>
            </a:pPr>
            <a:r>
              <a:t>สิ่งแวดล้อมและความยั่งยืน (Environment)</a:t>
            </a:r>
          </a:p>
          <a:p>
            <a:pPr>
              <a:spcAft>
                <a:spcPts val="200"/>
              </a:spcAft>
              <a:defRPr sz="1150">
                <a:solidFill>
                  <a:srgbClr val="E2E8F0"/>
                </a:solidFill>
                <a:latin typeface="Sarabun"/>
              </a:defRPr>
            </a:pPr>
            <a:r>
              <a:t>• ลดการปล่อยคาร์บอนด้วยรถ EV 100% ไร้เสียง ไร้ควัน</a:t>
            </a:r>
          </a:p>
          <a:p>
            <a:pPr>
              <a:spcAft>
                <a:spcPts val="200"/>
              </a:spcAft>
              <a:defRPr sz="1150">
                <a:solidFill>
                  <a:srgbClr val="E2E8F0"/>
                </a:solidFill>
                <a:latin typeface="Sarabun"/>
              </a:defRPr>
            </a:pPr>
            <a:r>
              <a:t>• ปกป้องระบบนิเวศพฤกษศาสตร์ในพื้นที่ 6,500 ไร่</a:t>
            </a:r>
          </a:p>
          <a:p>
            <a:pPr>
              <a:spcAft>
                <a:spcPts val="200"/>
              </a:spcAft>
              <a:defRPr sz="1150">
                <a:solidFill>
                  <a:srgbClr val="E2E8F0"/>
                </a:solidFill>
                <a:latin typeface="Sarabun"/>
              </a:defRPr>
            </a:pPr>
            <a:r>
              <a:t>• จุดชาร์จพลังงานสะอาด EV Tram Charger ในพื้นที่</a:t>
            </a:r>
          </a:p>
          <a:p>
            <a:pPr>
              <a:spcAft>
                <a:spcPts val="200"/>
              </a:spcAft>
              <a:defRPr sz="1150">
                <a:solidFill>
                  <a:srgbClr val="E2E8F0"/>
                </a:solidFill>
                <a:latin typeface="Sarabun"/>
              </a:defRPr>
            </a:pPr>
            <a:r>
              <a:t>• ยกระดับสู่มาตรฐานการท่องเที่ยวสีเขียวระดับสากล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ark_topographic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97280" y="1097280"/>
            <a:ext cx="9997135" cy="4663440"/>
          </a:xfrm>
          <a:prstGeom prst="roundRect">
            <a:avLst/>
          </a:prstGeom>
          <a:solidFill>
            <a:srgbClr val="0E261C"/>
          </a:solidFill>
          <a:ln w="1905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rIns="548640" tIns="548640"/>
          <a:lstStyle/>
          <a:p>
            <a:pPr algn="ctr">
              <a:spcAft>
                <a:spcPts val="2000"/>
              </a:spcAft>
              <a:defRPr sz="1400" b="1">
                <a:solidFill>
                  <a:srgbClr val="6EE7B7"/>
                </a:solidFill>
                <a:latin typeface="Prompt"/>
              </a:defRPr>
            </a:pPr>
            <a:r>
              <a:t>SMART &amp; GREEN BOTANICAL GARDEN | FUTURE OF QSBG</a:t>
            </a:r>
          </a:p>
          <a:p>
            <a:pPr algn="ctr">
              <a:spcAft>
                <a:spcPts val="1800"/>
              </a:spcAft>
              <a:defRPr sz="3200" b="1">
                <a:solidFill>
                  <a:srgbClr val="FFFFFF"/>
                </a:solidFill>
                <a:latin typeface="Prompt"/>
              </a:defRPr>
            </a:pPr>
            <a:r>
              <a:t>การผสานรวมรถนำเที่ยวไฟฟ้า (EV)</a:t>
            </a:r>
            <a:br/>
            <a:r>
              <a:t>และ Smart Tourism Platform เพื่ออนาคตสีเขียวที่ยั่งยืน</a:t>
            </a:r>
          </a:p>
          <a:p>
            <a:pPr algn="ctr">
              <a:spcAft>
                <a:spcPts val="2600"/>
              </a:spcAft>
              <a:defRPr sz="1500">
                <a:solidFill>
                  <a:srgbClr val="E2E8F0"/>
                </a:solidFill>
                <a:latin typeface="Sarabun"/>
              </a:defRPr>
            </a:pPr>
            <a:r>
              <a:t>โครงการพัฒนาระบบจัดการรถนำเที่ยวไฟฟ้า สวนพฤกษศาสตร์สมเด็จพระนางเจ้าสิริกิติ์ พร้อมเดินหน้าตามแผนงาน Phase 1 ทันที เพื่อส่งมอบระบบที่สมบูรณ์แบบ ทั้งการบริการ การบริหารจัดการ และการอนุรักษ์สิ่งแวดล้อมอย่างยั่งยืน</a:t>
            </a:r>
          </a:p>
          <a:p>
            <a:pPr algn="ctr">
              <a:defRPr sz="2200" b="1">
                <a:solidFill>
                  <a:srgbClr val="F59E0B"/>
                </a:solidFill>
                <a:latin typeface="Prompt"/>
              </a:defRPr>
            </a:pPr>
            <a:r>
              <a:t>ขอขอบพระคุณคณะกรรมการทุกท่าน  |  ช่วงถาม - ตอบ (Q &amp; A)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