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สคริปต์พูดหน้าปก (1 นาที):</a:t>
            </a:r>
          </a:p>
          <a:p>
            <a:r>
              <a:t>กราบเรียนท่านประธาน ท่านคณะกรรมการ และผู้เข้าร่วมประชุมทุกท่านครับ ในวันนี้ผมมีความยินดีอย่างยิ่งที่จะนำเสนอ 'โครงการพัฒนาระบบจัดการรถนำเที่ยวไฟฟ้า สวนพฤกษศาสตร์สมเด็จพระนางเจ้าสิริกิติ์ จังหวัดเชียงใหม่'</a:t>
            </a:r>
          </a:p>
          <a:p>
            <a:r>
              <a:t>ภาพทางขวามือคือรถนำเที่ยวไฟฟ้าจริงทั้ง 3 คันที่ประจำการอยู่ ณ สวนพฤกษศาสตร์ฯ ซึ่งโครงการนี้จะนำเทคโนโลยี IoT, Mobile Application, Cloud Architecture และ Real-time Analytics เข้ามาบริหารจัดการอย่างเต็มระบบ เพื่อยกระดับประสบการณ์การท่องเที่ยว และเพิ่มประสิทธิภาพการบริหารจัดการพื้นที่ 6,500 ไร่ สู่มาตรฐานสวนพฤกษศาสตร์ระดับโลกอย่างยั่งยืนครับ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2 (1.5 นาที):</a:t>
            </a:r>
          </a:p>
          <a:p>
            <a:r>
              <a:t>ทุกท่านครับ สวนพฤกษศาสตร์สมเด็จพระนางเจ้าสิริกิติ์ มีพื้นที่กว้างขวางถึง 6,500 ไร่ และเป็นแหล่งรวบรวมพรรณไม้ระดับชาติ แต่ในอดีตเรามีข้อจำกัดหลัก 3 ประการ:</a:t>
            </a:r>
          </a:p>
          <a:p>
            <a:r>
              <a:t>ข้อแรก คือ ด้านยานพาหนะ เดิมเรามีรถเครื่องยนต์สันดาปเพียง 2 คัน ซึ่งปล่อยมลพิษเสียงและควัน และไม่เพียงพอต่อปริมาณนักท่องเที่ยว</a:t>
            </a:r>
          </a:p>
          <a:p>
            <a:r>
              <a:t>ข้อสอง คือ ด้านการสื่อสารและประสบการณ์ นักท่องเที่ยวเมื่อไปรอที่สถานีจะไม่ทราบเลยว่ารถคันต่อไปจะมาเมื่อไหร่ ทำให้เกิดความกังวลและเสียเวลารอคอย</a:t>
            </a:r>
          </a:p>
          <a:p>
            <a:r>
              <a:t>และข้อสาม คือ ด้านการบริหารจัดการ เราไม่มีข้อมูลสถิติดิจิทัลเลยว่าจุดไหนมีคนรอเยอะ ช่วงเวลาใดเป็น Peak Hours ทำให้ผู้บริหารวางแผนพัฒนาพื้นที่ต่อได้ยาก</a:t>
            </a:r>
          </a:p>
          <a:p>
            <a:r>
              <a:t>นี่จึงเป็นที่มาของการริเริ่มโครงการนี้ครับ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3 (1.5 นาที):</a:t>
            </a:r>
          </a:p>
          <a:p>
            <a:r>
              <a:t>สำหรับวัตถุประสงค์หลักของโครงการ มี 2 ประการตามกรอบการดำเนินงานครับ:</a:t>
            </a:r>
          </a:p>
          <a:p>
            <a:r>
              <a:t>ข้อที่ 1 คือ เพื่อวิเคราะห์และออกแบบระบบการจัดการข้อมูลสารสนเทศรถนำเที่ยวไฟฟ้าเพื่อการบริหารงานของสวนพฤกษศาสตร์สมเด็จพระนางเจ้าสิริกิติ์ จังหวัดเชียงใหม่ เพื่อวางรากฐานระบบสารสนเทศที่มีประสิทธิภาพสูงสุด</a:t>
            </a:r>
          </a:p>
          <a:p>
            <a:r>
              <a:t>และข้อที่ 2 คือ เพื่อพัฒนาแอปพลิเคชันระบบการจัดการรถนำเที่ยวไฟฟ้าของสวนพฤกษศาสตร์สมเด็จพระนางเจ้าสิริกิติ์ จังหวัดเชียงใหม่ ให้ครอบคลุมทั้งระบบจำหน่ายตั๋ว e-Ticket, การติดตามตำแหน่งรถ, การจัดคิว และแดชบอร์ดบริหารจัดการอย่างครบวงจรครับ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4 (1.5 นาที):</a:t>
            </a:r>
          </a:p>
          <a:p>
            <a:r>
              <a:t>สำหรับขอบเขตโครงการ มีกรอบการดำเนินงาน 5 ด้านหลักครับ:</a:t>
            </a:r>
          </a:p>
          <a:p>
            <a:r>
              <a:t>ข้อที่ 1 คือ การวิเคราะห์และออกแบบฐานข้อมูลระบบจัดการรถนำเที่ยว</a:t>
            </a:r>
          </a:p>
          <a:p>
            <a:r>
              <a:t>ข้อที่ 2 คือ การศึกษาและพัฒนารูปแบบการเชื่อมโยงบูรณาการข้อมูลการท่องเที่ยวภายในสวนพฤกษศาสตร์ฯ และหน่วยงานอื่นที่เกี่ยวข้อง</a:t>
            </a:r>
          </a:p>
          <a:p>
            <a:r>
              <a:t>ข้อที่ 3 ซึ่งเป็นหัวใจสำคัญ คือ การพัฒนาแอพพลิเคชันระบบการจัดการรถนำเที่ยว ประกอบด้วย 6 โมดูลหลัก ได้แก่ ระบบจำหน่ายตั๋ว Smart e-Ticket, ระบบติดตามรถ Tour Cart Tracking, ระบบบริหารคิว Queue Management, ระบบแจ้งเตือน Push Notification, ระบบแนะนำพิกัด Geofences Technology และระบบรายงาน Real-time Dashboard</a:t>
            </a:r>
          </a:p>
          <a:p>
            <a:r>
              <a:t>และข้อที่ 4 และ 5 คือ การจัดทำคู่มือการใช้งานระบบ ฝึกอบรมเจ้าหน้าที่ และส่งมอบรายงานฉบับสมบูรณ์ครับ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5 (1.5 นาที):</a:t>
            </a:r>
          </a:p>
          <a:p>
            <a:r>
              <a:t>สถาปัตยกรรมระบบ 4 ชั้น ออกแบบตามมาตรฐานสากล: ชั้นที่ 1 ฝั่ง Client ครอบคลุม Web, Mobile, Kiosk และ Tablet ชั้นที่ 2 Microservices แยกตามฟังก์ชันงาน ชั้นที่ 3 IoT สตรีมพิกัดทุก 5 วินาที และชั้นที่ 4 Data Layer แยก PostgreSQL กับ TimescaleDB ทำให้ระบบมีความเสถียรสูงสุดครับ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6 (1.5 นาที):</a:t>
            </a:r>
          </a:p>
          <a:p>
            <a:r>
              <a:t>ในสไลด์นี้คือ e-Ticket Flow ตั้งแต่เริ่มซื้อจนขึ้นรถอย่างละเอียดครับ:</a:t>
            </a:r>
          </a:p>
          <a:p>
            <a:r>
              <a:t>1. นักท่องเที่ยวเลือกซื้อผ่าน Mobile App, Web หรือ Kiosk</a:t>
            </a:r>
          </a:p>
          <a:p>
            <a:r>
              <a:t>2. ชำระเงินได้ทั้ง PromptPay, บัตร หรือเงินสดที่ Kiosk</a:t>
            </a:r>
          </a:p>
          <a:p>
            <a:r>
              <a:t>3. ระบบสร้าง One-time QR Code บันทึกลงฐานข้อมูลสถานะ 'ยังไม่ใช้' ทันที</a:t>
            </a:r>
          </a:p>
          <a:p>
            <a:r>
              <a:t>4. ผู้โดยสารแสดง QR บนมือถือ หรือกระดาษจาก Kiosk</a:t>
            </a:r>
          </a:p>
          <a:p>
            <a:r>
              <a:t>5. เมื่อขึ้นรถ คนขับใช้กล้อง Tablet บนรถสแกนตรวจตั๋ว ระบบ Check-in ปรับสถานะเป็น 'ใช้แล้ว' ทันที ป้องกันการเวียนตั๋วซ้ำ 100% 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7 (1.5 นาที):</a:t>
            </a:r>
          </a:p>
          <a:p>
            <a:r>
              <a:t>สไลด์นี้คือ Payment Gateway Integration Flow ที่แสดงสถาปัตยกรรมการเงินและความปลอดภัยครับ:</a:t>
            </a:r>
          </a:p>
          <a:p>
            <a:r>
              <a:t>เมื่อผู้โดยสารกดชำระเงิน Backend จะต่อ API ไปยัง Gateway เพื่อสร้าง QR PromptPay EMVCo ส่งกลับมาแสดงบนจอ ผู้โดยสารสแกนจ่ายผ่านธนาคารใดก็ได้</a:t>
            </a:r>
          </a:p>
          <a:p>
            <a:r>
              <a:t>เมื่อธนาคารรับเงิน Gateway จะยิง Webhook Callback กลับมาที่ Backend ซึ่งระบบจะตรวจสอบ Digital Signature เพื่อป้องกัน Webhook ปลอม เมื่อยืนยันแล้วจะออก e-Ticket และส่ง Push Notification ทันที</a:t>
            </a:r>
          </a:p>
          <a:p>
            <a:r>
              <a:t>หากผู้โดยสารไม่ชำระเงินภายใน 10 นาที ระบบจะ Auto-Expire ยกเลิกออร์เดอร์และคืนที่นั่งทันทีครับ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8 (1.5 นาที):</a:t>
            </a:r>
          </a:p>
          <a:p>
            <a:r>
              <a:t>มาดูหัวใจของระบบปฏิบัติการเดินรถครับ เราจัดเส้นทางเดินรถเป็น Loop วนรอบ 6 สถานีหลักที่ครอบคลุมไฮไลต์ของสวนฯ ทั้งหมด</a:t>
            </a:r>
          </a:p>
          <a:p>
            <a:r>
              <a:t>ภาพถ่ายทางขวามือคือภายในห้องโดยสารจริง ซึ่งมีอุปกรณ์ Tablet ติดตั้งไว้ประจำรถ ส่งพิกัด GPS เข้าเซิร์ฟเวอร์ทุกๆ 5 วินาที ทำให้ระบบ Location Engine และ Geofencing ทราบได้ทันทีว่ารถอยู่ที่จุดไหน และคำนวณเวลา ETA ถึงแต่ละสถานีได้อย่างแม่นยำครับ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9 (1.0 นาที):</a:t>
            </a:r>
          </a:p>
          <a:p>
            <a:r>
              <a:t>Smart Queue Balancing ช่วยกระจายผู้โดยสารอย่างสมดุล ไม่ให้คนยืนรอแออัดที่สถานียอดนิยม ขณะที่ Push Notification จะแจ้งเตือนเข้ามือถือก่อนรถถึงสถานี 3 นาที ทำให้นักท่องเที่ยวเดินชมสวนได้อย่างสบายใจครับ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10 (1.0 นาที):</a:t>
            </a:r>
          </a:p>
          <a:p>
            <a:r>
              <a:t>เทคโนโลยี Geofences ตอบโจทย์สวนพฤกษศาสตร์อย่างยิ่งครับ เมื่อรถเข้าพิกัดสำคัญ ระบบจะส่งข้อความแจ้งเตือน แนะนำพรรณไม้เด่น ประวัติความเป็นมา และข้อควรระวัง เสมือนมีมัคคุเทศก์ส่วนตัวตลอดเส้นทางครับ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11 (1.5 นาที):</a:t>
            </a:r>
          </a:p>
          <a:p>
            <a:r>
              <a:t>แผนงานแบ่งเป็น 3 ระยะชัดเจน (กรอบเวลา ..... เดือน): Phase 1 สร้างฐานราก Core Foundation, Phase 2 ระบบ Realtime &amp; Mobile App, และ Phase 3 ฟังก์ชันขั้นสูงและการส่งมอบงานสมบูรณ์ มั่นใจได้ว่าส่งมอบตรงเวลาแน่นอนครับ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12 (1.5 นาที):</a:t>
            </a:r>
          </a:p>
          <a:p>
            <a:r>
              <a:t>ความคุ้มค่าเกิดขึ้น 4 มิติ: นักท่องเที่ยวสะดวกสบาย, เจ้าหน้าที่ทำงานง่ายขึ้น, ผู้บริหารได้ข้อมูลสถิติตัดสินใจแม่นยำ และด้านสิ่งแวดล้อม การเปลี่ยนมาใช้รถ EV 100% พร้อมจุดชาร์จพลังงานสะอาดช่วยปกป้องธรรมชาติอย่างยั่งยืนครับ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13 (1 นาที):</a:t>
            </a:r>
          </a:p>
          <a:p>
            <a:r>
              <a:t>สรุปในตอนท้าย โครงการพัฒนาระบบจัดการรถนำเที่ยวไฟฟ้า สวนพฤกษศาสตร์สมเด็จพระนางเจ้าสิริกิติ์ เป็นการผสานเทคโนโลยีเข้ากับธรรมชาติอย่างลงตัว ยกระดับการบริการ การจัดการ และความยั่งยืนในทุกมิติ ทางทีมงานมีความพร้อมทั้งด้านบุคลากรและเทคโนโลยีที่จะดำเนินงานตามแผนงานระยะที่ 1 ทันทีครับ ขอขอบพระคุณคณะกรรมการทุกท่านเป็นอย่างสูงครับ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52B788"/>
                </a:solidFill>
                <a:latin typeface="Leelawadee UI"/>
              </a:defRPr>
            </a:pPr>
            <a:r>
              <a:t>SMART &amp; GREEN BOTANICAL GARDEN | QSBG INNOVATION</a:t>
            </a:r>
          </a:p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  <a:latin typeface="Leelawadee UI"/>
              </a:defRPr>
            </a:pPr>
            <a:r>
              <a:t>โครงการพัฒนาระบบจัดการ</a:t>
            </a:r>
            <a:br/>
            <a:r>
              <a:t>รถนำเที่ยวไฟฟ้า</a:t>
            </a:r>
          </a:p>
          <a:p>
            <a:pPr>
              <a:spcAft>
                <a:spcPts val="2200"/>
              </a:spcAft>
              <a:defRPr sz="2200" b="1">
                <a:solidFill>
                  <a:srgbClr val="D8F3DC"/>
                </a:solidFill>
                <a:latin typeface="Leelawadee UI"/>
              </a:defRPr>
            </a:pPr>
            <a:r>
              <a:t>สวนพฤกษศาสตร์สมเด็จพระนางเจ้าสิริกิติ์ จังหวัดเชียงใหม่</a:t>
            </a:r>
          </a:p>
          <a:p>
            <a:pPr>
              <a:spcAft>
                <a:spcPts val="2400"/>
              </a:spcAft>
              <a:defRPr sz="1450">
                <a:solidFill>
                  <a:srgbClr val="B7E4C7"/>
                </a:solidFill>
                <a:latin typeface="Leelawadee UI"/>
              </a:defRPr>
            </a:pPr>
            <a:r>
              <a:t>การพัฒนาระบบเทคโนโลยีสารสนเทศเพื่อการบริหารจัดการรถนำเที่ยวอัจฉริยะ</a:t>
            </a:r>
            <a:br/>
            <a:r>
              <a:t>เชื่อมโยงระบบ Smart e-Ticket, GPS Live Tracking และ Real-time Analytics</a:t>
            </a:r>
          </a:p>
          <a:p>
            <a:pPr>
              <a:defRPr sz="1200">
                <a:solidFill>
                  <a:srgbClr val="95D5B2"/>
                </a:solidFill>
                <a:latin typeface="Leelawadee UI"/>
              </a:defRPr>
            </a:pPr>
            <a:r>
              <a:t>แผนงานการดำเนินงาน 3 ระยะ (กรอบเวลา ..... เดือน) | เอกสารประกอบการนำเสนอเชิงบริหาร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89520" y="1280160"/>
            <a:ext cx="4114800" cy="4754880"/>
          </a:xfrm>
          <a:prstGeom prst="roundRect">
            <a:avLst/>
          </a:prstGeom>
          <a:solidFill>
            <a:srgbClr val="0F2D21"/>
          </a:solidFill>
          <a:ln w="1524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v_fleet_3_ca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1417320"/>
            <a:ext cx="3840480" cy="21579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3703320"/>
            <a:ext cx="3840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Leelawadee UI"/>
              </a:defRPr>
            </a:pPr>
            <a:r>
              <a:t>ยานพาหนะจริงประจำโครงการ</a:t>
            </a:r>
          </a:p>
          <a:p>
            <a:pPr>
              <a:spcAft>
                <a:spcPts val="600"/>
              </a:spcAft>
              <a:defRPr sz="1250">
                <a:solidFill>
                  <a:srgbClr val="D8F3DC"/>
                </a:solidFill>
                <a:latin typeface="Leelawadee UI"/>
              </a:defRPr>
            </a:pPr>
            <a:r>
              <a:t>• รถนำเที่ยวพลังงานไฟฟ้า (EV Tram) จำนวน 3 คัน</a:t>
            </a:r>
          </a:p>
          <a:p>
            <a:pPr>
              <a:spcAft>
                <a:spcPts val="600"/>
              </a:spcAft>
              <a:defRPr sz="1250">
                <a:solidFill>
                  <a:srgbClr val="D8F3DC"/>
                </a:solidFill>
                <a:latin typeface="Leelawadee UI"/>
              </a:defRPr>
            </a:pPr>
            <a:r>
              <a:t>• พื้นที่บริการ 6,500 ไร่ วนรอบ 6 สถานีหลัก</a:t>
            </a:r>
          </a:p>
          <a:p>
            <a:pPr>
              <a:spcAft>
                <a:spcPts val="600"/>
              </a:spcAft>
              <a:defRPr sz="1250">
                <a:solidFill>
                  <a:srgbClr val="D8F3DC"/>
                </a:solidFill>
                <a:latin typeface="Leelawadee UI"/>
              </a:defRPr>
            </a:pPr>
            <a:r>
              <a:t>• พลังงานสะอาด 100% ไร้เสียงและมลพิษ (Zero Emission)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Leelawadee UI"/>
              </a:defRPr>
            </a:pPr>
            <a:r>
              <a:t>CONTEXT &amp; 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Leelawadee UI"/>
              </a:defRPr>
            </a:pPr>
            <a:r>
              <a:t>ที่มา ปัญหา และความจำเป็นของโครงการ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Leelawadee UI"/>
              </a:defRPr>
            </a:pPr>
            <a:r>
              <a:t>การวิเคราะห์สภาพปัญหาและข้อจำกัดในการดำเนินงานปัจจุบัน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1B4332"/>
                </a:solidFill>
                <a:latin typeface="Leelawadee UI"/>
              </a:defRPr>
            </a:pPr>
            <a:r>
              <a:t>01</a:t>
            </a:r>
          </a:p>
          <a:p>
            <a:pPr>
              <a:defRPr sz="1700" b="1">
                <a:solidFill>
                  <a:srgbClr val="14181B"/>
                </a:solidFill>
                <a:latin typeface="Leelawadee UI"/>
              </a:defRPr>
            </a:pPr>
            <a:r>
              <a:t>พื้นที่กว้างใหญ่ &amp; ยานพาหนะจำกัด</a:t>
            </a:r>
          </a:p>
          <a:p>
            <a:pPr>
              <a:spcAft>
                <a:spcPts val="1400"/>
              </a:spcAft>
              <a:defRPr sz="1100">
                <a:solidFill>
                  <a:srgbClr val="5A646E"/>
                </a:solidFill>
                <a:latin typeface="Leelawadee UI"/>
              </a:defRPr>
            </a:pPr>
            <a:r>
              <a:t>Physical &amp; Capacity Bottleneck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Leelawadee UI"/>
              </a:defRPr>
            </a:pPr>
            <a:r>
              <a:t>• พื้นที่สวนพฤกษศาสตร์กว้างใหญ่ถึง 6,500 ไร่ มีความลาดชันสูง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Leelawadee UI"/>
              </a:defRPr>
            </a:pPr>
            <a:r>
              <a:t>• จุดท่องเที่ยวสำคัญกระจายตัว เช่น Canopy Walk, กลุ่มเรือนกระจก, พิพิธภัณฑ์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Leelawadee UI"/>
              </a:defRPr>
            </a:pPr>
            <a:r>
              <a:t>• เดิมใช้รถเครื่องยนต์สันดาปเพียง 2 คัน ไม่เพียงพอในฤดูกาลท่องเที่ยว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Leelawadee UI"/>
              </a:defRPr>
            </a:pPr>
            <a:r>
              <a:t>• มีมลพิษทางเสียงและควันไอเสียรบกวนธรรมชาติและระบบนิเวศ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134074"/>
                </a:solidFill>
                <a:latin typeface="Leelawadee UI"/>
              </a:defRPr>
            </a:pPr>
            <a:r>
              <a:t>02</a:t>
            </a:r>
          </a:p>
          <a:p>
            <a:pPr>
              <a:defRPr sz="1700" b="1">
                <a:solidFill>
                  <a:srgbClr val="14181B"/>
                </a:solidFill>
                <a:latin typeface="Leelawadee UI"/>
              </a:defRPr>
            </a:pPr>
            <a:r>
              <a:t>ขาดระบบติดตามและข้อมูลเวลาเดินรถ</a:t>
            </a:r>
          </a:p>
          <a:p>
            <a:pPr>
              <a:spcAft>
                <a:spcPts val="1400"/>
              </a:spcAft>
              <a:defRPr sz="1100">
                <a:solidFill>
                  <a:srgbClr val="5A646E"/>
                </a:solidFill>
                <a:latin typeface="Leelawadee UI"/>
              </a:defRPr>
            </a:pPr>
            <a:r>
              <a:t>Lack of Real-time Visibility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Leelawadee UI"/>
              </a:defRPr>
            </a:pPr>
            <a:r>
              <a:t>• นักท่องเที่ยวไม่ทราบเวลาที่รถจะมาถึงสถานีล่วงหน้า (No ETA)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Leelawadee UI"/>
              </a:defRPr>
            </a:pPr>
            <a:r>
              <a:t>• เกิดปัญหาการรอคอยอย่างไร้จุดหมาย และความแออัดสะสมหนาแน่น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Leelawadee UI"/>
              </a:defRPr>
            </a:pPr>
            <a:r>
              <a:t>• พนักงานขับรถและเจ้าหน้าที่ไม่ทราบจำนวนคิวรอในสถานีถัดไป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Leelawadee UI"/>
              </a:defRPr>
            </a:pPr>
            <a:r>
              <a:t>• การจัดคิวขึ้นรถยังเป็นแบบดั้งเดิม ขาดประสิทธิภาพและความโปร่งใส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B45309"/>
                </a:solidFill>
                <a:latin typeface="Leelawadee UI"/>
              </a:defRPr>
            </a:pPr>
            <a:r>
              <a:t>03</a:t>
            </a:r>
          </a:p>
          <a:p>
            <a:pPr>
              <a:defRPr sz="1700" b="1">
                <a:solidFill>
                  <a:srgbClr val="14181B"/>
                </a:solidFill>
                <a:latin typeface="Leelawadee UI"/>
              </a:defRPr>
            </a:pPr>
            <a:r>
              <a:t>การบูรณาการข้อมูลองค์กรสมัยใหม่</a:t>
            </a:r>
          </a:p>
          <a:p>
            <a:pPr>
              <a:spcAft>
                <a:spcPts val="1400"/>
              </a:spcAft>
              <a:defRPr sz="1100">
                <a:solidFill>
                  <a:srgbClr val="5A646E"/>
                </a:solidFill>
                <a:latin typeface="Leelawadee UI"/>
              </a:defRPr>
            </a:pPr>
            <a:r>
              <a:t>Holistic Data Integration for Modern Governance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Leelawadee UI"/>
              </a:defRPr>
            </a:pPr>
            <a:r>
              <a:t>• การพัฒนาองค์กรสมัยใหม่บนพื้นฐานเทคโนโลยีดิจิทัล ต้องการระบบจัดเก็บและบูรณาการข้อมูลแบบองค์รวม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Leelawadee UI"/>
              </a:defRPr>
            </a:pPr>
            <a:r>
              <a:t>• ข้อมูลต้องมีความถูกต้อง แม่นยำ เป็นปัจจุบัน และเรียกใช้ได้ตลอดเวลาในทุกแพลตฟอร์ม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Leelawadee UI"/>
              </a:defRPr>
            </a:pPr>
            <a:r>
              <a:t>• เชื่อมโยงข้อมูลการเดินรถ การจำหน่ายตั๋ว และการบริการเข้าสู่ฐานข้อมูลศูนย์กลาง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Leelawadee UI"/>
              </a:defRPr>
            </a:pPr>
            <a:r>
              <a:t>• สนับสนุนการนำข้อมูลเชิงพื้นที่ (Spatial Data) มาวิเคราะห์เพื่อการวางแผนเชิงรุก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Leelawadee UI"/>
              </a:defRPr>
            </a:pPr>
            <a:r>
              <a:t>STRATEGY &amp;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Leelawadee UI"/>
              </a:defRPr>
            </a:pPr>
            <a:r>
              <a:t>วิสัยทัศน์และวัตถุประสงค์โครงการ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Leelawadee UI"/>
              </a:defRPr>
            </a:pPr>
            <a:r>
              <a:t>กรอบเป้าหมายเพื่อยกระดับการบริหารจัดการและการบริการสู่มาตรฐานสากล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900" b="1">
                <a:solidFill>
                  <a:srgbClr val="1B4332"/>
                </a:solidFill>
                <a:latin typeface="Leelawadee UI"/>
              </a:defRPr>
            </a:pPr>
            <a:r>
              <a:t>วัตถุประสงค์โครงการ (Project Objectives)</a:t>
            </a:r>
          </a:p>
          <a:p>
            <a:pPr>
              <a:spcAft>
                <a:spcPts val="400"/>
              </a:spcAft>
              <a:defRPr sz="1550" b="1">
                <a:solidFill>
                  <a:srgbClr val="134074"/>
                </a:solidFill>
                <a:latin typeface="Leelawadee UI"/>
              </a:defRPr>
            </a:pPr>
            <a:r>
              <a:t>1. เพื่อวิเคราะห์และออกแบบระบบการจัดการข้อมูลสารสนเทศ</a:t>
            </a:r>
          </a:p>
          <a:p>
            <a:pPr>
              <a:spcAft>
                <a:spcPts val="2400"/>
              </a:spcAft>
              <a:defRPr sz="1350">
                <a:solidFill>
                  <a:srgbClr val="14181B"/>
                </a:solidFill>
                <a:latin typeface="Leelawadee UI"/>
              </a:defRPr>
            </a:pPr>
            <a:r>
              <a:t>เพื่อวิเคราะห์และออกแบบระบบการจัดการข้อมูลสารสนเทศรถนำเที่ยวไฟฟ้า เพื่อการบริหารงานของสวนพฤกษศาสตร์สมเด็จพระนางเจ้าสิริกิติ์ จังหวัดเชียงใหม่</a:t>
            </a:r>
          </a:p>
          <a:p>
            <a:pPr>
              <a:spcAft>
                <a:spcPts val="400"/>
              </a:spcAft>
              <a:defRPr sz="1550" b="1">
                <a:solidFill>
                  <a:srgbClr val="134074"/>
                </a:solidFill>
                <a:latin typeface="Leelawadee UI"/>
              </a:defRPr>
            </a:pPr>
            <a:r>
              <a:t>2. เพื่อพัฒนาแอปพลิเคชันระบบการจัดการรถนำเที่ยวไฟฟ้า</a:t>
            </a:r>
          </a:p>
          <a:p>
            <a:pPr>
              <a:spcAft>
                <a:spcPts val="2400"/>
              </a:spcAft>
              <a:defRPr sz="1350">
                <a:solidFill>
                  <a:srgbClr val="14181B"/>
                </a:solidFill>
                <a:latin typeface="Leelawadee UI"/>
              </a:defRPr>
            </a:pPr>
            <a:r>
              <a:t>เพื่อพัฒนาแอปพลิเคชันระบบการจัดการรถนำเที่ยวไฟฟ้า ของสวนพฤกษศาสตร์สมเด็จพระนางเจ้าสิริกิติ์ จังหวัดเชียงใหม่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1206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v_cart_s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783080"/>
            <a:ext cx="3383280" cy="1901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784080" y="1783080"/>
            <a:ext cx="146304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B4332"/>
                </a:solidFill>
                <a:latin typeface="Leelawadee UI"/>
              </a:defRPr>
            </a:pPr>
            <a:r>
              <a:t>ยานยนต์ไฟฟ้า</a:t>
            </a:r>
          </a:p>
          <a:p>
            <a:pPr>
              <a:defRPr sz="1100">
                <a:solidFill>
                  <a:srgbClr val="14181B"/>
                </a:solidFill>
                <a:latin typeface="Leelawadee UI"/>
              </a:defRPr>
            </a:pPr>
            <a:r>
              <a:t>รถรางเปิดโล่ง รองรับผู้โดยสารอย่างสะดวกสบาย ปลอดมลพิษ 100%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12064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4023360"/>
            <a:ext cx="45720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332"/>
                </a:solidFill>
                <a:latin typeface="Leelawadee UI"/>
              </a:defRPr>
            </a:pPr>
            <a:r>
              <a:t>เป้าหมายเชิงยุทธศาสตร์และความยั่งยืน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Green EV Transition (Zero Emission) : เปลี่ยนสู่ยานยนต์ไฟฟ้า 100% ไร้มลพิษในพื้นที่ 6,500 ไร่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Smart Digital Experience : อำนวยความสะดวกด้วย e-Ticket, GPS Tracking และการแจ้งเตือนคิว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Data-Driven Governance : Real-time Dashboard สำหรับผู้บริหาร เพื่อการบริหารเชิงพื้นที่อย่างแม่นยำ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Leelawadee UI"/>
              </a:defRPr>
            </a:pPr>
            <a:r>
              <a:t>PROJECT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Leelawadee UI"/>
              </a:defRPr>
            </a:pPr>
            <a:r>
              <a:t>ขอบเขตโครงการ (Project Scope)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Leelawadee UI"/>
              </a:defRPr>
            </a:pPr>
            <a:r>
              <a:t>กรอบการดำเนินงานพัฒนาระบบสารสนเทศและการบริหารจัดการรถนำเที่ยวไฟฟ้าอย่างครบวงจร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B2545"/>
                </a:solidFill>
                <a:latin typeface="Leelawadee UI"/>
              </a:defRPr>
            </a:pPr>
            <a:r>
              <a:t>กรอบงานวิเคราะห์ ออกแบบ และบูรณาการข้อมูล</a:t>
            </a:r>
          </a:p>
          <a:p>
            <a:pPr>
              <a:spcAft>
                <a:spcPts val="200"/>
              </a:spcAft>
              <a:defRPr sz="1300" b="1">
                <a:solidFill>
                  <a:srgbClr val="1B4332"/>
                </a:solidFill>
                <a:latin typeface="Leelawadee UI"/>
              </a:defRPr>
            </a:pPr>
            <a:r>
              <a:t>1. วิเคราะห์และออกแบบฐานข้อมูลระบบจัดการรถนำเที่ยว</a:t>
            </a:r>
          </a:p>
          <a:p>
            <a:pPr>
              <a:spcAft>
                <a:spcPts val="800"/>
              </a:spcAft>
              <a:defRPr sz="1100">
                <a:solidFill>
                  <a:srgbClr val="14181B"/>
                </a:solidFill>
                <a:latin typeface="Leelawadee UI"/>
              </a:defRPr>
            </a:pPr>
            <a:r>
              <a:t>วางโครงสร้างฐานข้อมูล (Schema) และสถาปัตยกรรมสารสนเทศเพื่อรองรับการบริหารจัดการที่มีเสถียรภาพและแม่นยำ</a:t>
            </a:r>
          </a:p>
          <a:p>
            <a:pPr>
              <a:spcAft>
                <a:spcPts val="200"/>
              </a:spcAft>
              <a:defRPr sz="1300" b="1">
                <a:solidFill>
                  <a:srgbClr val="1B4332"/>
                </a:solidFill>
                <a:latin typeface="Leelawadee UI"/>
              </a:defRPr>
            </a:pPr>
            <a:r>
              <a:t>2. ศึกษาและพัฒนารูปแบบการเชื่อมโยงและบูรณาการข้อมูล</a:t>
            </a:r>
          </a:p>
          <a:p>
            <a:pPr>
              <a:defRPr sz="1100">
                <a:solidFill>
                  <a:srgbClr val="14181B"/>
                </a:solidFill>
                <a:latin typeface="Leelawadee UI"/>
              </a:defRPr>
            </a:pPr>
            <a:r>
              <a:t>บูรณาการข้อมูลการท่องเที่ยวภายในสวนพฤกษศาสตร์สมเด็จพระนางเจ้าสิริกิติ์ และหน่วยงานอื่นที่เกี่ยวข้อง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251960"/>
            <a:ext cx="512064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38912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D6A4F"/>
                </a:solidFill>
                <a:latin typeface="Leelawadee UI"/>
              </a:defRPr>
            </a:pPr>
            <a:r>
              <a:t>การฝึกอบรม จัดทำคู่มือ และส่งมอบงาน</a:t>
            </a:r>
          </a:p>
          <a:p>
            <a:pPr>
              <a:defRPr sz="1250" b="1">
                <a:solidFill>
                  <a:srgbClr val="1B4332"/>
                </a:solidFill>
                <a:latin typeface="Leelawadee UI"/>
              </a:defRPr>
            </a:pPr>
            <a:r>
              <a:t>4. จัดทำคู่มือการใช้งานระบบและฝึกอบรม</a:t>
            </a:r>
          </a:p>
          <a:p>
            <a:pPr>
              <a:spcAft>
                <a:spcPts val="600"/>
              </a:spcAft>
              <a:defRPr sz="1050">
                <a:solidFill>
                  <a:srgbClr val="14181B"/>
                </a:solidFill>
                <a:latin typeface="Leelawadee UI"/>
              </a:defRPr>
            </a:pPr>
            <a:r>
              <a:t>จัดทำเอกสารคู่มือครบทุกกลุ่มผู้ใช้ พร้อมจัดฝึกอบรมเชิงปฏิบัติการแก่เจ้าหน้าที่และคนขับรถ</a:t>
            </a:r>
          </a:p>
          <a:p>
            <a:pPr>
              <a:defRPr sz="1250" b="1">
                <a:solidFill>
                  <a:srgbClr val="1B4332"/>
                </a:solidFill>
                <a:latin typeface="Leelawadee UI"/>
              </a:defRPr>
            </a:pPr>
            <a:r>
              <a:t>5. ส่งมอบรายงานฉบับสมบูรณ์</a:t>
            </a:r>
          </a:p>
          <a:p>
            <a:pPr>
              <a:defRPr sz="1050">
                <a:solidFill>
                  <a:srgbClr val="14181B"/>
                </a:solidFill>
                <a:latin typeface="Leelawadee UI"/>
              </a:defRPr>
            </a:pPr>
            <a:r>
              <a:t>ส่งมอบรายงานฉบับสมบูรณ์พร้อมซอร์สโค้ดและระบบสารสนเทศที่ผ่านการทดสอบมาตรฐาน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691640"/>
            <a:ext cx="539496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82880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1B4332"/>
                </a:solidFill>
                <a:latin typeface="Leelawadee UI"/>
              </a:defRPr>
            </a:pPr>
            <a:r>
              <a:t>3. พัฒนาแอพพลิเคชันระบบการจัดการรถนำเที่ยว</a:t>
            </a:r>
          </a:p>
          <a:p>
            <a:pPr>
              <a:spcAft>
                <a:spcPts val="800"/>
              </a:spcAft>
              <a:defRPr sz="1150" b="1">
                <a:solidFill>
                  <a:srgbClr val="134074"/>
                </a:solidFill>
                <a:latin typeface="Leelawadee UI"/>
              </a:defRPr>
            </a:pPr>
            <a:r>
              <a:t>ประกอบด้วย 6 ระบบปฏิบัติการหลัก (Core System Modules):</a:t>
            </a:r>
          </a:p>
          <a:p>
            <a:pPr>
              <a:spcAft>
                <a:spcPts val="100"/>
              </a:spcAft>
              <a:defRPr sz="1150" b="1">
                <a:solidFill>
                  <a:srgbClr val="0B2545"/>
                </a:solidFill>
                <a:latin typeface="Leelawadee UI"/>
              </a:defRPr>
            </a:pPr>
            <a:r>
              <a:t>• 3.1 ระบบจำหน่ายตั๋วอัตโนมัติ Smart e-Ticket</a:t>
            </a:r>
          </a:p>
          <a:p>
            <a:pPr>
              <a:spcAft>
                <a:spcPts val="500"/>
              </a:spcAft>
              <a:defRPr sz="1000">
                <a:solidFill>
                  <a:srgbClr val="14181B"/>
                </a:solidFill>
                <a:latin typeface="Leelawadee UI"/>
              </a:defRPr>
            </a:pPr>
            <a:r>
              <a:t>   บริการจอง/ซื้อตั๋ว One-time QR Code ผ่าน Web, Mobile App และตู้ Kiosk ประจำสถานี</a:t>
            </a:r>
          </a:p>
          <a:p>
            <a:pPr>
              <a:spcAft>
                <a:spcPts val="100"/>
              </a:spcAft>
              <a:defRPr sz="1150" b="1">
                <a:solidFill>
                  <a:srgbClr val="0B2545"/>
                </a:solidFill>
                <a:latin typeface="Leelawadee UI"/>
              </a:defRPr>
            </a:pPr>
            <a:r>
              <a:t>• 3.2 ระบบจัดการเส้นทางและตรวจสอบเวลาการเดินรถ Tour Cart Tracking Service</a:t>
            </a:r>
          </a:p>
          <a:p>
            <a:pPr>
              <a:spcAft>
                <a:spcPts val="500"/>
              </a:spcAft>
              <a:defRPr sz="1000">
                <a:solidFill>
                  <a:srgbClr val="14181B"/>
                </a:solidFill>
                <a:latin typeface="Leelawadee UI"/>
              </a:defRPr>
            </a:pPr>
            <a:r>
              <a:t>   ติดตามพิกัด GPS รถแบบ Real-time พร้อมคำนวณเวลาถึงสถานี (Dynamic ETA)</a:t>
            </a:r>
          </a:p>
          <a:p>
            <a:pPr>
              <a:spcAft>
                <a:spcPts val="100"/>
              </a:spcAft>
              <a:defRPr sz="1150" b="1">
                <a:solidFill>
                  <a:srgbClr val="0B2545"/>
                </a:solidFill>
                <a:latin typeface="Leelawadee UI"/>
              </a:defRPr>
            </a:pPr>
            <a:r>
              <a:t>• 3.3 ระบบตรวจสอบตั๋วและจัดการคิวผู้โดยสาร Queue Management</a:t>
            </a:r>
          </a:p>
          <a:p>
            <a:pPr>
              <a:spcAft>
                <a:spcPts val="500"/>
              </a:spcAft>
              <a:defRPr sz="1000">
                <a:solidFill>
                  <a:srgbClr val="14181B"/>
                </a:solidFill>
                <a:latin typeface="Leelawadee UI"/>
              </a:defRPr>
            </a:pPr>
            <a:r>
              <a:t>   สแกนตรวจสิทธิ์ตั๋ว Check-in ผ่านแท็บเล็ตคนขับ และระบบกระจายคิวลดความแออัด</a:t>
            </a:r>
          </a:p>
          <a:p>
            <a:pPr>
              <a:spcAft>
                <a:spcPts val="100"/>
              </a:spcAft>
              <a:defRPr sz="1150" b="1">
                <a:solidFill>
                  <a:srgbClr val="0B2545"/>
                </a:solidFill>
                <a:latin typeface="Leelawadee UI"/>
              </a:defRPr>
            </a:pPr>
            <a:r>
              <a:t>• 3.4 ระบบการแจ้งคิวรับบริการ แจ้งเตือนรถใกล้ถึงสถานี Push Notification</a:t>
            </a:r>
          </a:p>
          <a:p>
            <a:pPr>
              <a:spcAft>
                <a:spcPts val="500"/>
              </a:spcAft>
              <a:defRPr sz="1000">
                <a:solidFill>
                  <a:srgbClr val="14181B"/>
                </a:solidFill>
                <a:latin typeface="Leelawadee UI"/>
              </a:defRPr>
            </a:pPr>
            <a:r>
              <a:t>   แจ้งเตือนผู้โดยสารล่วงหน้า 3 นาที ผ่าน App และ LINE เมื่อรถใกล้ถึงสถานี</a:t>
            </a:r>
          </a:p>
          <a:p>
            <a:pPr>
              <a:spcAft>
                <a:spcPts val="100"/>
              </a:spcAft>
              <a:defRPr sz="1150" b="1">
                <a:solidFill>
                  <a:srgbClr val="0B2545"/>
                </a:solidFill>
                <a:latin typeface="Leelawadee UI"/>
              </a:defRPr>
            </a:pPr>
            <a:r>
              <a:t>• 3.5 ระบบการให้คำแนะนำและบริการจากแหล่งท่องเที่ยว ณ พิกัดภูมิศาสตร์ Touring Recommendation System with Geofences Technology</a:t>
            </a:r>
          </a:p>
          <a:p>
            <a:pPr>
              <a:spcAft>
                <a:spcPts val="500"/>
              </a:spcAft>
              <a:defRPr sz="1000">
                <a:solidFill>
                  <a:srgbClr val="14181B"/>
                </a:solidFill>
                <a:latin typeface="Leelawadee UI"/>
              </a:defRPr>
            </a:pPr>
            <a:r>
              <a:t>   แนะนำจุดท่องเที่ยว พันธุ์ไม้เด่น และเสียงบรรยาย Audio Guide อัตโนมัติตามพิกัด</a:t>
            </a:r>
          </a:p>
          <a:p>
            <a:pPr>
              <a:spcAft>
                <a:spcPts val="100"/>
              </a:spcAft>
              <a:defRPr sz="1150" b="1">
                <a:solidFill>
                  <a:srgbClr val="0B2545"/>
                </a:solidFill>
                <a:latin typeface="Leelawadee UI"/>
              </a:defRPr>
            </a:pPr>
            <a:r>
              <a:t>• 3.6 ระบบรายงานผลการปฏิบัติงานแบบเวลาจริง Real-time Dashboard and Report Management</a:t>
            </a:r>
          </a:p>
          <a:p>
            <a:pPr>
              <a:spcAft>
                <a:spcPts val="500"/>
              </a:spcAft>
              <a:defRPr sz="1000">
                <a:solidFill>
                  <a:srgbClr val="14181B"/>
                </a:solidFill>
                <a:latin typeface="Leelawadee UI"/>
              </a:defRPr>
            </a:pPr>
            <a:r>
              <a:t>   แดชบอร์ดสรุปสถิติผู้โดยสาร ความหนาแน่นของสถานี และรายได้สำหรับผู้บริหาร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Leelawadee UI"/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Leelawadee UI"/>
              </a:defRPr>
            </a:pPr>
            <a:r>
              <a:t>สถาปัตยกรรมระบบโดยรวม (4-Tier Architecture)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Leelawadee UI"/>
              </a:defRPr>
            </a:pPr>
            <a:r>
              <a:t>โครงสร้างการเชื่อมต่อระหว่างระบบส่วนหน้า การประมวลผล IoT และฐานข้อมูล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1069848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91640"/>
            <a:ext cx="164592" cy="105156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01368"/>
            <a:ext cx="102412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  <a:latin typeface="Leelawadee UI"/>
              </a:defRPr>
            </a:pPr>
            <a:r>
              <a:t>ระดับที่ 1 : Frontend &amp; Client Channels (ช่องทางการเข้าใช้งาน)</a:t>
            </a:r>
          </a:p>
          <a:p>
            <a:pPr>
              <a:spcBef>
                <a:spcPts val="400"/>
              </a:spcBef>
              <a:defRPr sz="1300">
                <a:solidFill>
                  <a:srgbClr val="14181B"/>
                </a:solidFill>
                <a:latin typeface="Leelawadee UI"/>
              </a:defRPr>
            </a:pPr>
            <a:r>
              <a:t>• Web Application (จองออนไลน์ล่วงหน้า)  |  • Mobile App (iOS / Android สำหรับนักท่องเที่ยว)</a:t>
            </a:r>
            <a:br/>
            <a:r>
              <a:t>• Kiosk Touchscreen (ตู้ซื้อตั๋วอัตโนมัติประจำสถานี)  |  • Driver App (แอปพลิเคชันบน Tablet คนขับ)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52928"/>
            <a:ext cx="1069848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852928"/>
            <a:ext cx="164592" cy="10515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962656"/>
            <a:ext cx="102412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D6A4F"/>
                </a:solidFill>
                <a:latin typeface="Leelawadee UI"/>
              </a:defRPr>
            </a:pPr>
            <a:r>
              <a:t>ระดับที่ 2 : API Gateway &amp; Backend Microservices (ระบบประมวลผลหลัก)</a:t>
            </a:r>
          </a:p>
          <a:p>
            <a:pPr>
              <a:spcBef>
                <a:spcPts val="400"/>
              </a:spcBef>
              <a:defRPr sz="1300">
                <a:solidFill>
                  <a:srgbClr val="14181B"/>
                </a:solidFill>
                <a:latin typeface="Leelawadee UI"/>
              </a:defRPr>
            </a:pPr>
            <a:r>
              <a:t>• API Gateway : Routing, Authentication &amp; Rate Limiting  |  • Ticket Service : ออกตั๋ว/จอง</a:t>
            </a:r>
            <a:br/>
            <a:r>
              <a:t>• Bus Tracking Service : ประมวลผลพิกัด/เวลาเดินรถ  |  • Station &amp; Payment Service (จัดการ 6 สถานี &amp; ชำระเงิน)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14216"/>
            <a:ext cx="1069848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014216"/>
            <a:ext cx="164592" cy="1051560"/>
          </a:xfrm>
          <a:prstGeom prst="rect">
            <a:avLst/>
          </a:prstGeom>
          <a:solidFill>
            <a:srgbClr val="1340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123944"/>
            <a:ext cx="102412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34074"/>
                </a:solidFill>
                <a:latin typeface="Leelawadee UI"/>
              </a:defRPr>
            </a:pPr>
            <a:r>
              <a:t>ระดับที่ 3 : Realtime &amp; IoT Layer (ระบบเชื่อมต่อข้อมูลเวลาจริง)</a:t>
            </a:r>
          </a:p>
          <a:p>
            <a:pPr>
              <a:spcBef>
                <a:spcPts val="400"/>
              </a:spcBef>
              <a:defRPr sz="1300">
                <a:solidFill>
                  <a:srgbClr val="14181B"/>
                </a:solidFill>
                <a:latin typeface="Leelawadee UI"/>
              </a:defRPr>
            </a:pPr>
            <a:r>
              <a:t>• อุปกรณ์ Tablet GPS บนรถ 3 คัน : ส่งพิกัดตำแหน่ง Real-time ทุก 5 วินาที</a:t>
            </a:r>
            <a:br/>
            <a:r>
              <a:t>• QR Scanner : ตรวจสอบสิทธิ์ตั๋ว Check-in ขึ้นรถทันที  |  • WebSocket Server : กระจายข้อมูลพิกัดและคิวสด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175504"/>
            <a:ext cx="1069848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5175504"/>
            <a:ext cx="164592" cy="10515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285232"/>
            <a:ext cx="102412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B4332"/>
                </a:solidFill>
                <a:latin typeface="Leelawadee UI"/>
              </a:defRPr>
            </a:pPr>
            <a:r>
              <a:t>ระดับที่ 4 : Database &amp; Storage Layer (ระบบจัดเก็บข้อมูลความปลอดภัยสูง)</a:t>
            </a:r>
          </a:p>
          <a:p>
            <a:pPr>
              <a:spcBef>
                <a:spcPts val="400"/>
              </a:spcBef>
              <a:defRPr sz="1300">
                <a:solidFill>
                  <a:srgbClr val="14181B"/>
                </a:solidFill>
                <a:latin typeface="Leelawadee UI"/>
              </a:defRPr>
            </a:pPr>
            <a:r>
              <a:t>• PostgreSQL : ข้อมูลหลัก (ผู้ใช้ ตั๋ว และการเงิน)  |  • Redis : Cache &amp; Queue ความเร็วสูง</a:t>
            </a:r>
            <a:br/>
            <a:r>
              <a:t>• TimescaleDB : ขยายขีดความสามารถ PostgreSQL สำหรับจัดเก็บพิกัด GPS Time-series ปริมาณมหาศาล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Leelawadee UI"/>
              </a:defRPr>
            </a:pPr>
            <a:r>
              <a:t>END-TO-END TICKETING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Leelawadee UI"/>
              </a:defRPr>
            </a:pPr>
            <a:r>
              <a:t>e-Ticket Flow — กระบวนการตั้งแต่เลือกซื้อจนขึ้นรถ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Leelawadee UI"/>
              </a:defRPr>
            </a:pPr>
            <a:r>
              <a:t>ลำดับขั้นตอนการทำงาน 5 ขั้นตอน พร้อมระบบความปลอดภัยป้องกันการใช้ตั๋วซ้ำ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Leelawadee UI"/>
              </a:defRPr>
            </a:pPr>
            <a:r>
              <a:t>ขั้นตอนที่ 1</a:t>
            </a:r>
          </a:p>
          <a:p>
            <a:pPr>
              <a:defRPr sz="1500" b="1">
                <a:solidFill>
                  <a:srgbClr val="1B4332"/>
                </a:solidFill>
                <a:latin typeface="Leelawadee UI"/>
              </a:defRPr>
            </a:pPr>
            <a:r>
              <a:t>เลือกและซื้อตั๋ว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Leelawadee UI"/>
              </a:defRPr>
            </a:pPr>
            <a:r>
              <a:t>Ticket Selection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Mobile App : จองออนไลน์ล่วงหน้า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Web App : สั่งซื้อผ่านเว็บไซต์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Kiosk : ซื้อตั๋วด้วยตนเองที่สถานี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07791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44951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Leelawadee UI"/>
              </a:defRPr>
            </a:pPr>
            <a:r>
              <a:t>ขั้นตอนที่ 2</a:t>
            </a:r>
          </a:p>
          <a:p>
            <a:pPr>
              <a:defRPr sz="1500" b="1">
                <a:solidFill>
                  <a:srgbClr val="1B4332"/>
                </a:solidFill>
                <a:latin typeface="Leelawadee UI"/>
              </a:defRPr>
            </a:pPr>
            <a:r>
              <a:t>ชำระเงิน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Leelawadee UI"/>
              </a:defRPr>
            </a:pPr>
            <a:r>
              <a:t>Payment Methods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QR PromptPay (มาตรฐาน EMVCo)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บัตรเครดิต / เดบิต สากล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Mobile Banking ทุกธนาคาร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เงินสด (ชำระผ่านตู้ Kiosk)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84064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1224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Leelawadee UI"/>
              </a:defRPr>
            </a:pPr>
            <a:r>
              <a:t>ขั้นตอนที่ 3</a:t>
            </a:r>
          </a:p>
          <a:p>
            <a:pPr>
              <a:defRPr sz="1500" b="1">
                <a:solidFill>
                  <a:srgbClr val="1B4332"/>
                </a:solidFill>
                <a:latin typeface="Leelawadee UI"/>
              </a:defRPr>
            </a:pPr>
            <a:r>
              <a:t>ระบบออก e-Ticket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Leelawadee UI"/>
              </a:defRPr>
            </a:pPr>
            <a:r>
              <a:t>QR Code Generation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QR Generator : ผูก Ticket ID + เส้นทาง + วันที่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บันทึก DB : สถานะเริ่มต้น 'ยังไม่ใช้'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ส่งมอบตั๋ว : ทาง App / Email / SMS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97496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Leelawadee UI"/>
              </a:defRPr>
            </a:pPr>
            <a:r>
              <a:t>ขั้นตอนที่ 4</a:t>
            </a:r>
          </a:p>
          <a:p>
            <a:pPr>
              <a:defRPr sz="1500" b="1">
                <a:solidFill>
                  <a:srgbClr val="1B4332"/>
                </a:solidFill>
                <a:latin typeface="Leelawadee UI"/>
              </a:defRPr>
            </a:pPr>
            <a:r>
              <a:t>รับและแสดงตั๋ว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Leelawadee UI"/>
              </a:defRPr>
            </a:pPr>
            <a:r>
              <a:t>Passenger Display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QR บน Mobile App : แสดงหน้าจอบนรถ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QR ทาง Email / SMS : สำหรับผู้ไม่มีแอป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พิมพ์ QR (Kiosk) : สลิปกระดาษแทนตั๋ว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36608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73768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Leelawadee UI"/>
              </a:defRPr>
            </a:pPr>
            <a:r>
              <a:t>ขั้นตอนที่ 5</a:t>
            </a:r>
          </a:p>
          <a:p>
            <a:pPr>
              <a:defRPr sz="1500" b="1">
                <a:solidFill>
                  <a:srgbClr val="1B4332"/>
                </a:solidFill>
                <a:latin typeface="Leelawadee UI"/>
              </a:defRPr>
            </a:pPr>
            <a:r>
              <a:t>สแกน Check-in บนรถ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Leelawadee UI"/>
              </a:defRPr>
            </a:pPr>
            <a:r>
              <a:t>Driver App Validation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Driver App : ใช้กล้อง Tablet บนรถสแกน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Validate + Check-in : อัปเดตสถานะ DB ทันที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คิวอัปเดต Real-time : ตัดโควตาที่นั่งว่าง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166360"/>
            <a:ext cx="10698480" cy="1005840"/>
          </a:xfrm>
          <a:prstGeom prst="roundRect">
            <a:avLst/>
          </a:prstGeom>
          <a:solidFill>
            <a:srgbClr val="EEF7F2"/>
          </a:solidFill>
          <a:ln w="1524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25780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1B4332"/>
                </a:solidFill>
                <a:latin typeface="Leelawadee UI"/>
              </a:defRPr>
            </a:pPr>
            <a:r>
              <a:t>ข้อกำหนดความปลอดภัยและการตรวจสอบสิทธิ์ตั๋วโดยสาร (Ticket Integrity)</a:t>
            </a:r>
          </a:p>
          <a:p>
            <a:pPr>
              <a:defRPr sz="1250">
                <a:solidFill>
                  <a:srgbClr val="14181B"/>
                </a:solidFill>
                <a:latin typeface="Leelawadee UI"/>
              </a:defRPr>
            </a:pPr>
            <a:r>
              <a:t>• สถานะตั๋ว: เมื่อสแกนแล้วจะเปลี่ยนเป็น 'ใช้แล้ว' ทันที เพื่อป้องกันการนำกลับมาใช้ซ้ำ (One-Time QR Code Policy)</a:t>
            </a:r>
            <a:br/>
            <a:r>
              <a:t>• รองรับทั้งผู้ใช้ที่มีสมาร์ตโฟนและผู้ใช้ทั่วไปที่พิมพ์ตั๋วกระดาษ QR Code จากตู้ Kiosk หน้าสถานีได้อย่างเท่าเทียม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Leelawadee UI"/>
              </a:defRPr>
            </a:pPr>
            <a:r>
              <a:t>FINANCIAL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Leelawadee UI"/>
              </a:defRPr>
            </a:pPr>
            <a:r>
              <a:t>Payment Gateway Integration Flow — สถาปัตยกรรมระบบชำระเงิน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Leelawadee UI"/>
              </a:defRPr>
            </a:pPr>
            <a:r>
              <a:t>กลไกการชำระเงินไร้สัมผัสผ่านระบบคลาวด์ พร้อมการตรวจสอบ Webhook Callback และความปลอดภัย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28416" cy="3246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2962656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B2545"/>
                </a:solidFill>
                <a:latin typeface="Leelawadee UI"/>
              </a:defRPr>
            </a:pPr>
            <a:r>
              <a:t>1. การสร้างรายการชำระเงิน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Leelawadee UI"/>
              </a:defRPr>
            </a:pPr>
            <a:r>
              <a:t>• ผู้โดยสาร : เลือกประเภทตั๋วและกดชำระเงิน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Leelawadee UI"/>
              </a:defRPr>
            </a:pPr>
            <a:r>
              <a:t>• Backend ระบบ : สร้าง Order ID และเรียก API ไปยัง Gateway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Leelawadee UI"/>
              </a:defRPr>
            </a:pPr>
            <a:r>
              <a:t>• Payment Gateway (Omise / 2C2P) : สร้าง QR PromptPay ตามมาตรฐาน EMVCo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Leelawadee UI"/>
              </a:defRPr>
            </a:pPr>
            <a:r>
              <a:t>• รับ QR String : ส่งกลับมาแสดงบนหน้าจอมือถือหรือหน้าจอ Kiosk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328416" cy="3246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74519"/>
            <a:ext cx="2962656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D6A4F"/>
                </a:solidFill>
                <a:latin typeface="Leelawadee UI"/>
              </a:defRPr>
            </a:pPr>
            <a:r>
              <a:t>2. การตัดเงินและยืนยันสิทธิ์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Leelawadee UI"/>
              </a:defRPr>
            </a:pPr>
            <a:r>
              <a:t>• ผู้โดยสารสแกนจ่าย : ผ่าน Mobile Banking ทุกธนาคาร (SCB, KBANK, KTB ฯลฯ)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Leelawadee UI"/>
              </a:defRPr>
            </a:pPr>
            <a:r>
              <a:t>• ธนาคารยืนยันยอดเงิน : ส่งผลการชำระให้ Payment Gateway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Leelawadee UI"/>
              </a:defRPr>
            </a:pPr>
            <a:r>
              <a:t>• Webhook Callback : Gateway ส่งข้อมูลชำระเงิน POST ไปที่ Backend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Leelawadee UI"/>
              </a:defRPr>
            </a:pPr>
            <a:r>
              <a:t>• ตรวจสอบ Signature : ระบบตรวจสอบความถูกต้อง ป้องกัน Webhook ปลอม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91640"/>
            <a:ext cx="3328416" cy="3246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74519"/>
            <a:ext cx="2962656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332"/>
                </a:solidFill>
                <a:latin typeface="Leelawadee UI"/>
              </a:defRPr>
            </a:pPr>
            <a:r>
              <a:t>3. การออกตั๋วและแจ้งเตือน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Leelawadee UI"/>
              </a:defRPr>
            </a:pPr>
            <a:r>
              <a:t>• อัปเดต Order : ปรับสถานะเป็น 'ชำระเงินเรียบร้อยแล้ว'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Leelawadee UI"/>
              </a:defRPr>
            </a:pPr>
            <a:r>
              <a:t>• ออก e-Ticket QR Code : ส่งเข้าสู่มือถือของผู้โดยสารทันที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Leelawadee UI"/>
              </a:defRPr>
            </a:pPr>
            <a:r>
              <a:t>• Push Notification : แจ้งเตือนยืนยันการชำระเงินสำเร็จ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Leelawadee UI"/>
              </a:defRPr>
            </a:pPr>
            <a:r>
              <a:t>• เตรียมพร้อม Check-in : นำไปสแกนขึ้นรถกับคนขับได้ทันที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20640"/>
            <a:ext cx="10698480" cy="109728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230368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B91C1C"/>
                </a:solidFill>
                <a:latin typeface="Leelawadee UI"/>
              </a:defRPr>
            </a:pPr>
            <a:r>
              <a:t>กลไกกรณีการชำระเงินไม่สำเร็จ หรือ หมดเวลา (Auto-Expiry Policy)</a:t>
            </a:r>
          </a:p>
          <a:p>
            <a:pPr>
              <a:defRPr sz="1250">
                <a:solidFill>
                  <a:srgbClr val="14181B"/>
                </a:solidFill>
                <a:latin typeface="Leelawadee UI"/>
              </a:defRPr>
            </a:pPr>
            <a:r>
              <a:t>• ระบบกำหนดเวลาชำระเงินภายใน 10 นาที : หากไม่มีการชำระเงิน ระบบจะยกเลิก Order อัตโนมัติทันที</a:t>
            </a:r>
            <a:br/>
            <a:r>
              <a:t>• แจ้งเตือนผู้โดยสาร พร้อมคืนโควตาที่นั่งว่างกลับเข้าสู่ระบบ เพื่อไม่ให้เสียโอกาสแก่ผู้โดยสารท่านอื่น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Leelawadee UI"/>
              </a:defRPr>
            </a:pPr>
            <a:r>
              <a:t>FLEET TRACKING &amp; OPERATIONS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Leelawadee UI"/>
              </a:defRPr>
            </a:pPr>
            <a:r>
              <a:t>ระบบติดตามรถและการเดินรถวนรอบ (Loop 6 สถานี)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Leelawadee UI"/>
              </a:defRPr>
            </a:pPr>
            <a:r>
              <a:t>การติดตามพิกัดตำแหน่งผ่านสัญญาณดาวเทียมและการคำนวณเวลาเดินรถแบบ Dynamic ETA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41148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3749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4332"/>
                </a:solidFill>
                <a:latin typeface="Leelawadee UI"/>
              </a:defRPr>
            </a:pPr>
            <a:r>
              <a:t>กลไกการทำงานของระบบติดตาม</a:t>
            </a:r>
          </a:p>
          <a:p>
            <a:pPr>
              <a:defRPr sz="1300" b="1">
                <a:solidFill>
                  <a:srgbClr val="134074"/>
                </a:solidFill>
                <a:latin typeface="Leelawadee UI"/>
              </a:defRPr>
            </a:pPr>
            <a:r>
              <a:t>• อุปกรณ์ Tablet ประจำรถ 3 คัน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Leelawadee UI"/>
              </a:defRPr>
            </a:pPr>
            <a:r>
              <a:t>ส่งพิกัด GPS เข้าสู่ระบบทุกๆ 5 วินาที ผ่านสัญญาณสื่อสารความเร็วสูง</a:t>
            </a:r>
          </a:p>
          <a:p>
            <a:pPr>
              <a:defRPr sz="1300" b="1">
                <a:solidFill>
                  <a:srgbClr val="134074"/>
                </a:solidFill>
                <a:latin typeface="Leelawadee UI"/>
              </a:defRPr>
            </a:pPr>
            <a:r>
              <a:t>• ระบบรั้วเสมือน (Geofencing)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Leelawadee UI"/>
              </a:defRPr>
            </a:pPr>
            <a:r>
              <a:t>ตรวจสอบตำแหน่งยานพาหนะเทียบกับสถานี บันทึกเวลาเข้า-ออกอัตโนมัติ</a:t>
            </a:r>
          </a:p>
          <a:p>
            <a:pPr>
              <a:defRPr sz="1300" b="1">
                <a:solidFill>
                  <a:srgbClr val="134074"/>
                </a:solidFill>
                <a:latin typeface="Leelawadee UI"/>
              </a:defRPr>
            </a:pPr>
            <a:r>
              <a:t>• การคำนวณ Dynamic ETA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Leelawadee UI"/>
              </a:defRPr>
            </a:pPr>
            <a:r>
              <a:t>ประมวลผลความเร็วและระยะทาง เพื่อแจ้งเวลารถถึงแต่ละสถานีแบบแม่นยำ</a:t>
            </a:r>
          </a:p>
          <a:p>
            <a:pPr>
              <a:defRPr sz="1300" b="1">
                <a:solidFill>
                  <a:srgbClr val="134074"/>
                </a:solidFill>
                <a:latin typeface="Leelawadee UI"/>
              </a:defRPr>
            </a:pPr>
            <a:r>
              <a:t>• Driver Application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Leelawadee UI"/>
              </a:defRPr>
            </a:pPr>
            <a:r>
              <a:t>คนขับตรวจสอบจำนวนที่นั่งว่างและสถิติคิวรอในสถานีถัดไปได้ทันที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1691640"/>
            <a:ext cx="402336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1874519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332"/>
                </a:solidFill>
                <a:latin typeface="Leelawadee UI"/>
              </a:defRPr>
            </a:pPr>
            <a:r>
              <a:t>การเดินรถวนรอบ 6 สถานี (Loop)</a:t>
            </a:r>
          </a:p>
          <a:p>
            <a:pPr>
              <a:defRPr sz="1200" b="1">
                <a:solidFill>
                  <a:srgbClr val="1B4332"/>
                </a:solidFill>
                <a:latin typeface="Leelawadee UI"/>
              </a:defRPr>
            </a:pPr>
            <a:r>
              <a:t>สถานีที่ 1 : จุดบริการต้อนรับ/อาคารข้อมูล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Leelawadee UI"/>
              </a:defRPr>
            </a:pPr>
            <a:r>
              <a:t>   • คิวรอ 12 ท่าน | ETA 3 นาที</a:t>
            </a:r>
          </a:p>
          <a:p>
            <a:pPr>
              <a:defRPr sz="1200" b="1">
                <a:solidFill>
                  <a:srgbClr val="1B4332"/>
                </a:solidFill>
                <a:latin typeface="Leelawadee UI"/>
              </a:defRPr>
            </a:pPr>
            <a:r>
              <a:t>สถานีที่ 2 : พิพิธภัณฑ์ธรรมชาติวิทยา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Leelawadee UI"/>
              </a:defRPr>
            </a:pPr>
            <a:r>
              <a:t>   • คิวรอ 5 ท่าน | ETA 8 นาที</a:t>
            </a:r>
          </a:p>
          <a:p>
            <a:pPr>
              <a:defRPr sz="1200" b="1">
                <a:solidFill>
                  <a:srgbClr val="1B4332"/>
                </a:solidFill>
                <a:latin typeface="Leelawadee UI"/>
              </a:defRPr>
            </a:pPr>
            <a:r>
              <a:t>สถานีที่ 3 : ทางเดินเรือนยอดไม้ (Canopy Walk)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Leelawadee UI"/>
              </a:defRPr>
            </a:pPr>
            <a:r>
              <a:t>   • คิวรอ 8 ท่าน | ETA 14 นาที</a:t>
            </a:r>
          </a:p>
          <a:p>
            <a:pPr>
              <a:defRPr sz="1200" b="1">
                <a:solidFill>
                  <a:srgbClr val="1B4332"/>
                </a:solidFill>
                <a:latin typeface="Leelawadee UI"/>
              </a:defRPr>
            </a:pPr>
            <a:r>
              <a:t>สถานีที่ 4 : กลุ่มอาคารเรือนกระจกเฉลิมพระเกียรติ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Leelawadee UI"/>
              </a:defRPr>
            </a:pPr>
            <a:r>
              <a:t>   • คิวรอ 2 ท่าน | ETA 19 นาที</a:t>
            </a:r>
          </a:p>
          <a:p>
            <a:pPr>
              <a:defRPr sz="1200" b="1">
                <a:solidFill>
                  <a:srgbClr val="1B4332"/>
                </a:solidFill>
                <a:latin typeface="Leelawadee UI"/>
              </a:defRPr>
            </a:pPr>
            <a:r>
              <a:t>สถานีที่ 5 : แปลงรวบรวมพันธุ์ไม้และกล้วยไม้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Leelawadee UI"/>
              </a:defRPr>
            </a:pPr>
            <a:r>
              <a:t>   • คิวรอ 15 ท่าน | ETA 24 นาที</a:t>
            </a:r>
          </a:p>
          <a:p>
            <a:pPr>
              <a:defRPr sz="1200" b="1">
                <a:solidFill>
                  <a:srgbClr val="1B4332"/>
                </a:solidFill>
                <a:latin typeface="Leelawadee UI"/>
              </a:defRPr>
            </a:pPr>
            <a:r>
              <a:t>สถานีที่ 6 : จุดชมวิวและลานกิจกรรมธรรมชาติ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Leelawadee UI"/>
              </a:defRPr>
            </a:pPr>
            <a:r>
              <a:t>   • คิวรอ 7 ท่าน | ETA 30 นาที</a:t>
            </a:r>
          </a:p>
          <a:p>
            <a:pPr>
              <a:defRPr sz="1100" b="1">
                <a:solidFill>
                  <a:srgbClr val="B45309"/>
                </a:solidFill>
                <a:latin typeface="Leelawadee UI"/>
              </a:defRPr>
            </a:pPr>
            <a:r>
              <a:t>การเดินรถ: วิ่งวนรอบต่อเนื่อง พร้อมปรับความถี่ตามคิวรอ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35440" y="1691640"/>
            <a:ext cx="219456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v_cart_cockpit_tabl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1783080"/>
            <a:ext cx="2011680" cy="35753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281160" y="544068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14181B"/>
                </a:solidFill>
                <a:latin typeface="Leelawadee UI"/>
              </a:defRPr>
            </a:pPr>
            <a:r>
              <a:t>ภาพจริง: อุปกรณ์ Tablet ประจำรถ เพื่อส่งพิกัด GPS และระบบ Driver App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Leelawadee UI"/>
              </a:defRPr>
            </a:pPr>
            <a:r>
              <a:t>QUEUE &amp; NOTIFICATION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Leelawadee UI"/>
              </a:defRPr>
            </a:pPr>
            <a:r>
              <a:t>การบริหารจัดการคิวและการแจ้งเตือนอัตโนมัติ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Leelawadee UI"/>
              </a:defRPr>
            </a:pPr>
            <a:r>
              <a:t>ระบบจัดสรรผู้โดยสารเพื่อลดความแออัด พร้อมการแจ้งเตือนแบบเรียลไทม์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52B788"/>
                </a:solidFill>
                <a:latin typeface="Leelawadee UI"/>
              </a:defRPr>
            </a:pPr>
            <a:r>
              <a:t>การกระจายผู้โดยสารอย่างสมดุล</a:t>
            </a:r>
          </a:p>
          <a:p>
            <a:pPr>
              <a:spcAft>
                <a:spcPts val="1200"/>
              </a:spcAft>
              <a:defRPr sz="1700" b="1">
                <a:solidFill>
                  <a:srgbClr val="1B4332"/>
                </a:solidFill>
                <a:latin typeface="Leelawadee UI"/>
              </a:defRPr>
            </a:pPr>
            <a:r>
              <a:t>Smart Queue Balancing</a:t>
            </a:r>
          </a:p>
          <a:p>
            <a:pPr>
              <a:spcAft>
                <a:spcPts val="1600"/>
              </a:spcAft>
              <a:defRPr sz="1250">
                <a:solidFill>
                  <a:srgbClr val="14181B"/>
                </a:solidFill>
                <a:latin typeface="Leelawadee UI"/>
              </a:defRPr>
            </a:pPr>
            <a:r>
              <a:t>ระบบประมวลผลจำนวนที่นั่งว่างจริง (Seat Capacity) บนรถแต่ละคัน เทียบกับปริมาณคิวรอในแต่ละสถานี หากพบสถานีใดมีผู้โดยสารหนาแน่นเกินเกณฑ์ ระบบจะแนะนำให้จัดสรรรถเสริมไปยังจุดดังกล่าวทันที เพื่อลดปัญหาคอขวดสะสม</a:t>
            </a:r>
          </a:p>
          <a:p>
            <a:pPr>
              <a:defRPr sz="1200" b="1">
                <a:solidFill>
                  <a:srgbClr val="134074"/>
                </a:solidFill>
                <a:latin typeface="Leelawadee UI"/>
              </a:defRPr>
            </a:pPr>
            <a:r>
              <a:t>• จุดเด่น : ควบคุมความหนาแน่นในจุดท่องเที่ยวหลัก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52B788"/>
                </a:solidFill>
                <a:latin typeface="Leelawadee UI"/>
              </a:defRPr>
            </a:pPr>
            <a:r>
              <a:t>การแสดงผลข้อมูลรอบด้าน</a:t>
            </a:r>
          </a:p>
          <a:p>
            <a:pPr>
              <a:spcAft>
                <a:spcPts val="1200"/>
              </a:spcAft>
              <a:defRPr sz="1700" b="1">
                <a:solidFill>
                  <a:srgbClr val="1B4332"/>
                </a:solidFill>
                <a:latin typeface="Leelawadee UI"/>
              </a:defRPr>
            </a:pPr>
            <a:r>
              <a:t>Omnichannel Display System</a:t>
            </a:r>
          </a:p>
          <a:p>
            <a:pPr>
              <a:spcAft>
                <a:spcPts val="1600"/>
              </a:spcAft>
              <a:defRPr sz="1250">
                <a:solidFill>
                  <a:srgbClr val="14181B"/>
                </a:solidFill>
                <a:latin typeface="Leelawadee UI"/>
              </a:defRPr>
            </a:pPr>
            <a:r>
              <a:t>• Live Map บน Mobile Application : แสดงสัญลักษณ์ตำแหน่งรถเคลื่อนที่แบบ Real-time</a:t>
            </a:r>
            <a:br/>
            <a:r>
              <a:t>• Station Information Display : จอแสดงผลประจำสถานี แสดงตารางเวลาและจำนวนคิวรอ</a:t>
            </a:r>
            <a:br/>
            <a:r>
              <a:t>• ตู้ Kiosk : ให้บริการตรวจสอบสิทธิ์และสถานะคิวของผู้โดยสารได้อย่างโปร่งใส</a:t>
            </a:r>
          </a:p>
          <a:p>
            <a:pPr>
              <a:defRPr sz="1200" b="1">
                <a:solidFill>
                  <a:srgbClr val="134074"/>
                </a:solidFill>
                <a:latin typeface="Leelawadee UI"/>
              </a:defRPr>
            </a:pPr>
            <a:r>
              <a:t>• จุดเด่น : ข้อมูลชัดเจน เข้าถึงได้จากทุกจุดบริการ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52B788"/>
                </a:solidFill>
                <a:latin typeface="Leelawadee UI"/>
              </a:defRPr>
            </a:pPr>
            <a:r>
              <a:t>ระบบแจ้งเตือนล่วงหน้า</a:t>
            </a:r>
          </a:p>
          <a:p>
            <a:pPr>
              <a:spcAft>
                <a:spcPts val="1200"/>
              </a:spcAft>
              <a:defRPr sz="1700" b="1">
                <a:solidFill>
                  <a:srgbClr val="1B4332"/>
                </a:solidFill>
                <a:latin typeface="Leelawadee UI"/>
              </a:defRPr>
            </a:pPr>
            <a:r>
              <a:t>Proactive Push Notification</a:t>
            </a:r>
          </a:p>
          <a:p>
            <a:pPr>
              <a:spcAft>
                <a:spcPts val="1600"/>
              </a:spcAft>
              <a:defRPr sz="1250">
                <a:solidFill>
                  <a:srgbClr val="14181B"/>
                </a:solidFill>
                <a:latin typeface="Leelawadee UI"/>
              </a:defRPr>
            </a:pPr>
            <a:r>
              <a:t>เมื่อยานพาหนะเข้าใกล้สถานีเป้าหมายในระยะที่กำหนด (เช่น ระยะเวลา 3 นาที หรือระยะทาง 500 เมตร) ระบบจะส่งข้อความแจ้งเตือนผ่าน Mobile Application หรือ LINE เพื่อให้นักท่องเที่ยวเตรียมตัวขึ้นรถได้อย่างสะดวก</a:t>
            </a:r>
          </a:p>
          <a:p>
            <a:pPr>
              <a:defRPr sz="1200" b="1">
                <a:solidFill>
                  <a:srgbClr val="134074"/>
                </a:solidFill>
                <a:latin typeface="Leelawadee UI"/>
              </a:defRPr>
            </a:pPr>
            <a:r>
              <a:t>• จุดเด่น : ลดเวลาการยืนรอคอยบริเวณสถานี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Leelawadee UI"/>
              </a:defRPr>
            </a:pPr>
            <a:r>
              <a:t>GEOFENCE &amp; SMART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Leelawadee UI"/>
              </a:defRPr>
            </a:pPr>
            <a:r>
              <a:t>ระบบแนะนำท่องเที่ยวตามพิกัดอัจฉริยะ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Leelawadee UI"/>
              </a:defRPr>
            </a:pPr>
            <a:r>
              <a:t>การประยุกต์เทคโนโลยี Geofences เพื่อสนับสนุนการท่องเที่ยวเชิงนิเวศ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484632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74519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1B4332"/>
                </a:solidFill>
                <a:latin typeface="Leelawadee UI"/>
              </a:defRPr>
            </a:pPr>
            <a:r>
              <a:t>หลักการทำงานของเทคโนโลยี Geofences</a:t>
            </a:r>
          </a:p>
          <a:p>
            <a:pPr>
              <a:defRPr sz="1400" b="1">
                <a:solidFill>
                  <a:srgbClr val="134074"/>
                </a:solidFill>
                <a:latin typeface="Leelawadee UI"/>
              </a:defRPr>
            </a:pPr>
            <a:r>
              <a:t>• การกำหนดรั้วพิกัดเสมือน (Virtual Geofences)</a:t>
            </a:r>
          </a:p>
          <a:p>
            <a:pPr>
              <a:spcAft>
                <a:spcPts val="10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กำหนดพื้นที่พิกัดล้อมรอบจุดท่องเที่ยวสำคัญ เมื่อยานพาหนะหรือนักท่องเที่ยวผ่านเข้ามา ระบบจะระบุตำแหน่งอัตโนมัติ</a:t>
            </a:r>
          </a:p>
          <a:p>
            <a:pPr>
              <a:defRPr sz="1400" b="1">
                <a:solidFill>
                  <a:srgbClr val="134074"/>
                </a:solidFill>
                <a:latin typeface="Leelawadee UI"/>
              </a:defRPr>
            </a:pPr>
            <a:r>
              <a:t>• ระบบส่งต่อข้อมูลพรรณไม้อัตโนมัติ</a:t>
            </a:r>
          </a:p>
          <a:p>
            <a:pPr>
              <a:spcAft>
                <a:spcPts val="10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ส่งข้อความแนะนำพันธุ์ไม้เด่นประจำโซน ข้อมูลนิเวศวิทยา และประวัติความเป็นมา แสดงผลขึ้นบนหน้าจอมือถือหรือแท็บเล็ตประจำรถ</a:t>
            </a:r>
          </a:p>
          <a:p>
            <a:pPr>
              <a:defRPr sz="1400" b="1">
                <a:solidFill>
                  <a:srgbClr val="134074"/>
                </a:solidFill>
                <a:latin typeface="Leelawadee UI"/>
              </a:defRPr>
            </a:pPr>
            <a:r>
              <a:t>• แนะนำเส้นทางท่องเที่ยว (Smart Route)</a:t>
            </a:r>
          </a:p>
          <a:p>
            <a:pPr>
              <a:spcAft>
                <a:spcPts val="10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แนะนำเส้นทางท่องเที่ยวที่เหมาะสมตามเวลา เช่น ทริปสั้น 1 ชม. หรือทริปเจาะลึก 3 ชม. ตอบโจทย์ผู้รักธรรมชาติ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691640"/>
            <a:ext cx="576072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89320" y="1828800"/>
            <a:ext cx="530352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50" b="1">
                <a:solidFill>
                  <a:srgbClr val="1B4332"/>
                </a:solidFill>
                <a:latin typeface="Leelawadee UI"/>
              </a:defRPr>
            </a:pPr>
            <a:r>
              <a:t>จุดแลนด์มาร์กสำคัญในระบบ</a:t>
            </a:r>
          </a:p>
          <a:p>
            <a:pPr>
              <a:defRPr sz="1200" b="1">
                <a:solidFill>
                  <a:srgbClr val="2D6A4F"/>
                </a:solidFill>
                <a:latin typeface="Leelawadee UI"/>
              </a:defRPr>
            </a:pPr>
            <a:r>
              <a:t>1. ทางเดินเหนือเรือนยอดไม้ (Canopy Walkway)</a:t>
            </a:r>
          </a:p>
          <a:p>
            <a:pPr>
              <a:spcAft>
                <a:spcPts val="400"/>
              </a:spcAft>
              <a:defRPr sz="1050">
                <a:solidFill>
                  <a:srgbClr val="14181B"/>
                </a:solidFill>
                <a:latin typeface="Leelawadee UI"/>
              </a:defRPr>
            </a:pPr>
            <a:r>
              <a:t>ทางเดินลอยฟ้าศึกษาธรรมชาติเรือนยอดไม้ที่ยาวที่สุด แนะนำข้อมูลพรรณไม้ยอดไม้และทัศนียภาพป่าดอย</a:t>
            </a:r>
          </a:p>
          <a:p>
            <a:pPr>
              <a:defRPr sz="1200" b="1">
                <a:solidFill>
                  <a:srgbClr val="2D6A4F"/>
                </a:solidFill>
                <a:latin typeface="Leelawadee UI"/>
              </a:defRPr>
            </a:pPr>
            <a:r>
              <a:t>2. กลุ่มอาคารเรือนกระจก</a:t>
            </a:r>
          </a:p>
          <a:p>
            <a:pPr>
              <a:spcAft>
                <a:spcPts val="400"/>
              </a:spcAft>
              <a:defRPr sz="1050">
                <a:solidFill>
                  <a:srgbClr val="14181B"/>
                </a:solidFill>
                <a:latin typeface="Leelawadee UI"/>
              </a:defRPr>
            </a:pPr>
            <a:r>
              <a:t>รวบรวมพืชทนแล้ง พืชป่าดิบชื้น พืชกินแมลง และบัวนานาชนิด แนะนำข้อมูลทางพฤกษศาสตร์เชิงลึก</a:t>
            </a:r>
          </a:p>
          <a:p>
            <a:pPr>
              <a:defRPr sz="1200" b="1">
                <a:solidFill>
                  <a:srgbClr val="2D6A4F"/>
                </a:solidFill>
                <a:latin typeface="Leelawadee UI"/>
              </a:defRPr>
            </a:pPr>
            <a:r>
              <a:t>3. พิพิธภัณฑ์ธรรมชาติวิทยา</a:t>
            </a:r>
          </a:p>
          <a:p>
            <a:pPr>
              <a:spcAft>
                <a:spcPts val="400"/>
              </a:spcAft>
              <a:defRPr sz="1050">
                <a:solidFill>
                  <a:srgbClr val="14181B"/>
                </a:solidFill>
                <a:latin typeface="Leelawadee UI"/>
              </a:defRPr>
            </a:pPr>
            <a:r>
              <a:t>แหล่งเรียนรู้และนิทรรศการความหลากหลายทางชีวภาพ เหมาะสำหรับกลุ่มนักเรียนและครอบครัว</a:t>
            </a:r>
          </a:p>
          <a:p>
            <a:pPr>
              <a:defRPr sz="1200" b="1">
                <a:solidFill>
                  <a:srgbClr val="2D6A4F"/>
                </a:solidFill>
                <a:latin typeface="Leelawadee UI"/>
              </a:defRPr>
            </a:pPr>
            <a:r>
              <a:t>4. ลานกิจกรรมและจุดพักผ่อนธรรมชาติ</a:t>
            </a:r>
          </a:p>
          <a:p>
            <a:pPr>
              <a:spcAft>
                <a:spcPts val="400"/>
              </a:spcAft>
              <a:defRPr sz="1050">
                <a:solidFill>
                  <a:srgbClr val="14181B"/>
                </a:solidFill>
                <a:latin typeface="Leelawadee UI"/>
              </a:defRPr>
            </a:pPr>
            <a:r>
              <a:t>พื้นที่ศึกษาธรรมชาติริมลำธาร จุดชมวิวทิวทัศน์ และพื้นที่จัดกิจกรรมสิ่งแวดล้อมศึกษา</a:t>
            </a:r>
          </a:p>
        </p:txBody>
      </p:sp>
      <p:pic>
        <p:nvPicPr>
          <p:cNvPr id="9" name="Picture 8" descr="landmark_canopy_walkw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4434840"/>
            <a:ext cx="1691640" cy="111556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989320" y="5614416"/>
            <a:ext cx="1691640" cy="292608"/>
          </a:xfrm>
          <a:prstGeom prst="roundRect">
            <a:avLst/>
          </a:prstGeom>
          <a:solidFill>
            <a:srgbClr val="EBF8F0"/>
          </a:solidFill>
          <a:ln w="1016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900" b="1">
                <a:solidFill>
                  <a:srgbClr val="1B4332"/>
                </a:solidFill>
                <a:latin typeface="Tahoma"/>
              </a:defRPr>
            </a:pPr>
            <a:r>
              <a:t>Canopy Walkway</a:t>
            </a:r>
          </a:p>
        </p:txBody>
      </p:sp>
      <p:pic>
        <p:nvPicPr>
          <p:cNvPr id="11" name="Picture 10" descr="landmark_glasshou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5552" y="4434840"/>
            <a:ext cx="1691640" cy="11155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845552" y="5614416"/>
            <a:ext cx="1691640" cy="292608"/>
          </a:xfrm>
          <a:prstGeom prst="roundRect">
            <a:avLst/>
          </a:prstGeom>
          <a:solidFill>
            <a:srgbClr val="EBF8F0"/>
          </a:solidFill>
          <a:ln w="1016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900" b="1">
                <a:solidFill>
                  <a:srgbClr val="1B4332"/>
                </a:solidFill>
                <a:latin typeface="Tahoma"/>
              </a:defRPr>
            </a:pPr>
            <a:r>
              <a:t>กลุ่มอาคารเรือนกระจก</a:t>
            </a:r>
          </a:p>
        </p:txBody>
      </p:sp>
      <p:pic>
        <p:nvPicPr>
          <p:cNvPr id="13" name="Picture 12" descr="landmark_museu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4434840"/>
            <a:ext cx="1691640" cy="111556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9701784" y="5614416"/>
            <a:ext cx="1691640" cy="292608"/>
          </a:xfrm>
          <a:prstGeom prst="roundRect">
            <a:avLst/>
          </a:prstGeom>
          <a:solidFill>
            <a:srgbClr val="EBF8F0"/>
          </a:solidFill>
          <a:ln w="1016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900" b="1">
                <a:solidFill>
                  <a:srgbClr val="1B4332"/>
                </a:solidFill>
                <a:latin typeface="Tahoma"/>
              </a:defRPr>
            </a:pPr>
            <a:r>
              <a:t>พิพิธภัณฑ์ธรรมชาติวิทยา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Leelawadee UI"/>
              </a:defRPr>
            </a:pPr>
            <a:r>
              <a:t>IMPLEMENTATION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Leelawadee UI"/>
              </a:defRPr>
            </a:pPr>
            <a:r>
              <a:t>แผนการดำเนินงานและส่งมอบโครงการ (กรอบเวลา ..... เดือน)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Leelawadee UI"/>
              </a:defRPr>
            </a:pPr>
            <a:r>
              <a:t>การแบ่งระยะการดำเนินงานอย่างเป็นระบบเพื่อการส่งมอบที่ตรงเวลาและมีคุณภาพ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91640"/>
            <a:ext cx="3328416" cy="128016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2545"/>
                </a:solidFill>
                <a:latin typeface="Leelawadee UI"/>
              </a:defRPr>
            </a:pPr>
            <a:r>
              <a:t>ระยะที่ 1 (Phase 1)</a:t>
            </a:r>
          </a:p>
          <a:p>
            <a:pPr>
              <a:defRPr sz="1700" b="1">
                <a:solidFill>
                  <a:srgbClr val="1B4332"/>
                </a:solidFill>
                <a:latin typeface="Leelawadee UI"/>
              </a:defRPr>
            </a:pPr>
            <a:r>
              <a:t>Core Foundation</a:t>
            </a:r>
          </a:p>
          <a:p>
            <a:pPr>
              <a:spcAft>
                <a:spcPts val="1200"/>
              </a:spcAft>
              <a:defRPr sz="1050">
                <a:solidFill>
                  <a:srgbClr val="5A646E"/>
                </a:solidFill>
                <a:latin typeface="Leelawadee UI"/>
              </a:defRPr>
            </a:pPr>
            <a:r>
              <a:t>รากฐานระบบและการชำระเงิน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วิเคราะห์และออกแบบ DB Schema และ Architecture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พัฒนาระบบ Backend API (Ticket, Station, Auth)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พัฒนา Admin Dashboard จัดการข้อมูลสถานี/รถ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พัฒนาระบบ Kiosk UI จำหน่ายตั๋วหน้าสถานี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เชื่อมต่อ Payment Gateway (PromptPay/บัตร/เงินสด)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พัฒนา Driver App บน Tablet สำหรับคนขับรถ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691640"/>
            <a:ext cx="3328416" cy="128016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2D6A4F"/>
                </a:solidFill>
                <a:latin typeface="Leelawadee UI"/>
              </a:defRPr>
            </a:pPr>
            <a:r>
              <a:t>ระยะที่ 2 (Phase 2)</a:t>
            </a:r>
          </a:p>
          <a:p>
            <a:pPr>
              <a:defRPr sz="1700" b="1">
                <a:solidFill>
                  <a:srgbClr val="1B4332"/>
                </a:solidFill>
                <a:latin typeface="Leelawadee UI"/>
              </a:defRPr>
            </a:pPr>
            <a:r>
              <a:t>Realtime &amp; Mobile</a:t>
            </a:r>
          </a:p>
          <a:p>
            <a:pPr>
              <a:spcAft>
                <a:spcPts val="1200"/>
              </a:spcAft>
              <a:defRPr sz="1050">
                <a:solidFill>
                  <a:srgbClr val="5A646E"/>
                </a:solidFill>
                <a:latin typeface="Leelawadee UI"/>
              </a:defRPr>
            </a:pPr>
            <a:r>
              <a:t>ระบบเวลาจริงและแอปพลิเคชัน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ติดตั้ง WebSocket Server รองรับ Live Tracking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พัฒนา Mobile App (iOS / Android) สำหรับนักท่องเที่ยว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พัฒนาระบบ Queue Management &amp; Smart Balancing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เชื่อมโยง Geofencing และทดสอบเดินรถ Loop 6 สถานี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ทดสอบระบบ Check-in สแกน QR Code บนรถจริง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ทดสอบความเสถียรของสัญญาณสื่อสารในพื้นที่สวนฯ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691640"/>
            <a:ext cx="3328416" cy="128016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1B4332"/>
                </a:solidFill>
                <a:latin typeface="Leelawadee UI"/>
              </a:defRPr>
            </a:pPr>
            <a:r>
              <a:t>ระยะที่ 3 (Phase 3)</a:t>
            </a:r>
          </a:p>
          <a:p>
            <a:pPr>
              <a:defRPr sz="1700" b="1">
                <a:solidFill>
                  <a:srgbClr val="1B4332"/>
                </a:solidFill>
                <a:latin typeface="Leelawadee UI"/>
              </a:defRPr>
            </a:pPr>
            <a:r>
              <a:t>Advanced Features &amp; Rollout</a:t>
            </a:r>
          </a:p>
          <a:p>
            <a:pPr>
              <a:spcAft>
                <a:spcPts val="1200"/>
              </a:spcAft>
              <a:defRPr sz="1050">
                <a:solidFill>
                  <a:srgbClr val="5A646E"/>
                </a:solidFill>
                <a:latin typeface="Leelawadee UI"/>
              </a:defRPr>
            </a:pPr>
            <a:r>
              <a:t>ฟังก์ชันขั้นสูงและการส่งมอบ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พัฒนาระบบ Push Notification (App / LINE / SMS)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พัฒนาระบบ Real-time Analytics Dashboard เชิงพื้นที่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เปิดใช้งานระบบจองตั๋วออนไลน์ล่วงหน้า (Online Booking)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จัดทำคู่มือการใช้งานระบบสำหรับผู้ใช้ทุกระดับ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จัดฝึกอบรมเชิงปฏิบัติการแก่เจ้าหน้าที่และพนักงานขับรถ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ทดสอบระบบเสร็จสมบูรณ์ และส่งมอบงานสมบูรณ์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Leelawadee UI"/>
              </a:defRPr>
            </a:pPr>
            <a:r>
              <a:t>EXPECTED IMPACT &amp;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Leelawadee UI"/>
              </a:defRPr>
            </a:pPr>
            <a:r>
              <a:t>คุณค่าและประโยชน์ที่คาดว่าจะได้รับ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Leelawadee UI"/>
              </a:defRPr>
            </a:pPr>
            <a:r>
              <a:t>การสร้างผลกระทบเชิงบวกอย่างครอบคลุมต่อทุกภาคส่วนที่เกี่ยวข้อง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56231"/>
            <a:ext cx="466344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B4332"/>
                </a:solidFill>
                <a:latin typeface="Leelawadee UI"/>
              </a:defRPr>
            </a:pPr>
            <a:r>
              <a:t>1. กลุ่มนักท่องเที่ยว (Tourists)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ความสะดวกในการซื้อตั๋วโดยสารผ่านช่องทางดิจิทัล ไม่ต้องต่อแถวยาว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ทราบเวลาที่ยานพาหนะจะมาถึงสถานีล่วงหน้า ลดความกังวลในการรอคอย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ได้รับข้อมูลสารสนเทศและความรู้ด้านพฤกษศาสตร์ตามพิกัดจุดท่องเที่ยวจริง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สัมผัสประสบการณ์การท่องเที่ยวที่เงียบสงบ ปลอดภัย ไร้ควันพิษ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56231"/>
            <a:ext cx="466344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B2545"/>
                </a:solidFill>
                <a:latin typeface="Leelawadee UI"/>
              </a:defRPr>
            </a:pPr>
            <a:r>
              <a:t>2. พนักงานขับรถและเจ้าหน้าที่ (Staff &amp; Drivers)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ตรวจสอบสิทธิ์ตั๋วโดยสารผ่าน Tablet ภายใน 1 วินาที ป้องกันข้อผิดพลาด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ทราบจำนวนผู้โดยสารที่รอในสถานีถัดไปล่วงหน้า เพื่อการวางแผนการเดินรถ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ลดความแออัดและลดความขัดแย้งในการจัดคิวรับบริการหน้างาน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มีระบบดิจิทัลสนับสนุนการปฏิบัติงานที่มีมาตรฐานและมีประสิทธิภาพสูง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87952"/>
            <a:ext cx="466344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2D6A4F"/>
                </a:solidFill>
                <a:latin typeface="Leelawadee UI"/>
              </a:defRPr>
            </a:pPr>
            <a:r>
              <a:t>3. ผู้บริหารและองค์กร (Executive &amp; Management)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มี Real-time Dashboard ติดตามการปฏิบัติงาน ยอดผู้โดยสาร และรายได้ทันที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ได้รับข้อมูลสถิติเชิงพื้นที่และเวลาเพื่อนำมาใช้วางแผนพัฒนาสวนฯ อย่างแม่นยำ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ควบคุมและตรวจสอบรายได้จากการจำหน่ายตั๋วได้อย่างโปร่งใส 100%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ยกระดับองค์กรสู่การเป็น Smart Botanical Garden ชั้นนำในระดับสากล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2336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187952"/>
            <a:ext cx="356616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B45309"/>
                </a:solidFill>
                <a:latin typeface="Leelawadee UI"/>
              </a:defRPr>
            </a:pPr>
            <a:r>
              <a:t>4. มิติด้านสิ่งแวดล้อมและความยั่งยืน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ลดก๊าซเรือนกระจกและมลพิษทางเสียงด้วยพลังงานไฟฟ้า 100%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ส่งเสริมภาพลักษณ์การท่องเที่ยวสีเขียว (Green Tourism)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เป็นต้นแบบ Digital &amp; Green Transformation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ร่วมอนุรักษ์ระบบนิเวศในพื้นที่ 6,500 ไร่อย่างยั่งยืน</a:t>
            </a:r>
          </a:p>
        </p:txBody>
      </p:sp>
      <p:pic>
        <p:nvPicPr>
          <p:cNvPr id="13" name="Picture 12" descr="ev_charger_st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60520"/>
            <a:ext cx="1051560" cy="187451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52B788"/>
                </a:solidFill>
                <a:latin typeface="Leelawadee UI"/>
              </a:defRPr>
            </a:pPr>
            <a:r>
              <a:t>SMART &amp; GREEN BOTANICAL GARDEN</a:t>
            </a:r>
          </a:p>
          <a:p>
            <a:pPr>
              <a:spcAft>
                <a:spcPts val="1800"/>
              </a:spcAft>
              <a:defRPr sz="3200" b="1">
                <a:solidFill>
                  <a:srgbClr val="FFFFFF"/>
                </a:solidFill>
                <a:latin typeface="Leelawadee UI"/>
              </a:defRPr>
            </a:pPr>
            <a:r>
              <a:t>สวนพฤกษศาสตร์ระดับโลก</a:t>
            </a:r>
            <a:br/>
            <a:r>
              <a:t>สู่อนาคตที่ยั่งยืน</a:t>
            </a:r>
          </a:p>
          <a:p>
            <a:pPr>
              <a:spcAft>
                <a:spcPts val="3600"/>
              </a:spcAft>
              <a:defRPr sz="1500">
                <a:solidFill>
                  <a:srgbClr val="D8F3DC"/>
                </a:solidFill>
                <a:latin typeface="Leelawadee UI"/>
              </a:defRPr>
            </a:pPr>
            <a:r>
              <a:t>โครงการพัฒนาระบบจัดการรถนำเที่ยวไฟฟ้า สวนพฤกษศาสตร์สมเด็จพระนางเจ้าสิริกิติ์</a:t>
            </a:r>
            <a:br/>
            <a:r>
              <a:t>พร้อมเดินหน้าดำเนินงานตามแผนงานระยะที่ 1 ทันที เพื่อส่งมอบระบบสารสนเทศที่สมบูรณ์แบบ</a:t>
            </a:r>
          </a:p>
          <a:p>
            <a:pPr>
              <a:defRPr sz="2200" b="1">
                <a:solidFill>
                  <a:srgbClr val="B45309"/>
                </a:solidFill>
                <a:latin typeface="Leelawadee UI"/>
              </a:defRPr>
            </a:pPr>
            <a:r>
              <a:t>ขอขอบพระคุณคณะกรรมการทุกท่าน  |  ช่วงถาม - ตอบ (Q &amp; 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89520" y="1280160"/>
            <a:ext cx="4114800" cy="4754880"/>
          </a:xfrm>
          <a:prstGeom prst="roundRect">
            <a:avLst/>
          </a:prstGeom>
          <a:solidFill>
            <a:srgbClr val="0F2D21"/>
          </a:solidFill>
          <a:ln w="1524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andmark_panoramic_gard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1417320"/>
            <a:ext cx="3840480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4023360"/>
            <a:ext cx="3840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Leelawadee UI"/>
              </a:defRPr>
            </a:pPr>
            <a:r>
              <a:t>สวนพฤกษศาสตร์สมเด็จพระนางเจ้าสิริกิติ์</a:t>
            </a:r>
          </a:p>
          <a:p>
            <a:pPr>
              <a:spcAft>
                <a:spcPts val="400"/>
              </a:spcAft>
              <a:defRPr sz="1200">
                <a:solidFill>
                  <a:srgbClr val="D8F3DC"/>
                </a:solidFill>
                <a:latin typeface="Leelawadee UI"/>
              </a:defRPr>
            </a:pPr>
            <a:r>
              <a:t>• มาตรฐานสากลแห่งแรกของประเทศไทย</a:t>
            </a:r>
          </a:p>
          <a:p>
            <a:pPr>
              <a:spcAft>
                <a:spcPts val="400"/>
              </a:spcAft>
              <a:defRPr sz="1200">
                <a:solidFill>
                  <a:srgbClr val="D8F3DC"/>
                </a:solidFill>
                <a:latin typeface="Leelawadee UI"/>
              </a:defRPr>
            </a:pPr>
            <a:r>
              <a:t>• พื้นที่อนุรักษ์ธรรมชาติ 6,500 ไร่ เชียงใหม่</a:t>
            </a:r>
          </a:p>
          <a:p>
            <a:pPr>
              <a:spcAft>
                <a:spcPts val="400"/>
              </a:spcAft>
              <a:defRPr sz="1200">
                <a:solidFill>
                  <a:srgbClr val="D8F3DC"/>
                </a:solidFill>
                <a:latin typeface="Leelawadee UI"/>
              </a:defRPr>
            </a:pPr>
            <a:r>
              <a:t>• มุ่งสู่ Smart &amp; Green Eco-Tourism ยั่งยืน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